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457200" y="868680"/>
            <a:ext cx="11274552" cy="457200"/>
          </a:xfrm>
          <a:prstGeom prst="rect">
            <a:avLst/>
          </a:prstGeom>
          <a:noFill/>
          <a:ln/>
        </p:spPr>
        <p:txBody>
          <a:bodyPr wrap="square" lIns="0" tIns="0" rIns="0" bIns="0" rtlCol="0" anchor="ctr"/>
          <a:lstStyle/>
          <a:p>
            <a:pPr algn="ctr" indent="0" marL="0">
              <a:buNone/>
            </a:pPr>
            <a:r>
              <a:rPr lang="en-US" sz="2000" b="1" spc="200" kern="0" dirty="0">
                <a:solidFill>
                  <a:srgbClr val="8FA3B8"/>
                </a:solidFill>
                <a:latin typeface="Calibri" pitchFamily="34" charset="0"/>
                <a:ea typeface="Calibri" pitchFamily="34" charset="-122"/>
                <a:cs typeface="Calibri" pitchFamily="34" charset="-120"/>
              </a:rPr>
              <a:t>HABOT CONNECT FZCO</a:t>
            </a:r>
            <a:endParaRPr lang="en-US" sz="2000" dirty="0"/>
          </a:p>
        </p:txBody>
      </p:sp>
      <p:sp>
        <p:nvSpPr>
          <p:cNvPr id="5" name="Text 3"/>
          <p:cNvSpPr txBox="1"/>
          <p:nvPr/>
        </p:nvSpPr>
        <p:spPr>
          <a:xfrm>
            <a:off x="457200" y="1325880"/>
            <a:ext cx="11274552"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Junior Cloud and DevOps Engineer Hiring Project</a:t>
            </a:r>
            <a:endParaRPr lang="en-US" sz="3400" dirty="0"/>
          </a:p>
        </p:txBody>
      </p:sp>
      <p:sp>
        <p:nvSpPr>
          <p:cNvPr id="6" name="Text 4"/>
          <p:cNvSpPr txBox="1"/>
          <p:nvPr/>
        </p:nvSpPr>
        <p:spPr>
          <a:xfrm>
            <a:off x="1280160" y="2286000"/>
            <a:ext cx="9628632" cy="640080"/>
          </a:xfrm>
          <a:prstGeom prst="rect">
            <a:avLst/>
          </a:prstGeom>
          <a:noFill/>
          <a:ln/>
        </p:spPr>
        <p:txBody>
          <a:bodyPr wrap="square" lIns="0" tIns="0" rIns="0" bIns="0" rtlCol="0" anchor="ctr"/>
          <a:lstStyle/>
          <a:p>
            <a:pPr algn="ctr" indent="0" marL="0">
              <a:buNone/>
            </a:pPr>
            <a:r>
              <a:rPr lang="en-US" sz="1600" i="1" dirty="0">
                <a:solidFill>
                  <a:srgbClr val="00AEEF"/>
                </a:solidFill>
                <a:latin typeface="Calibri" pitchFamily="34" charset="0"/>
                <a:ea typeface="Calibri" pitchFamily="34" charset="-122"/>
                <a:cs typeface="Calibri" pitchFamily="34" charset="-120"/>
              </a:rPr>
              <a:t>Engineering a Fail-Closed, Schema-Safe, Cloud-Native Student Onboarding Pipeline on Google Cloud Platform</a:t>
            </a:r>
            <a:endParaRPr lang="en-US" sz="1600" dirty="0"/>
          </a:p>
        </p:txBody>
      </p:sp>
      <p:sp>
        <p:nvSpPr>
          <p:cNvPr id="7" name="Shape 5"/>
          <p:cNvSpPr/>
          <p:nvPr/>
        </p:nvSpPr>
        <p:spPr>
          <a:xfrm>
            <a:off x="2743200" y="3063240"/>
            <a:ext cx="6702552" cy="1828800"/>
          </a:xfrm>
          <a:prstGeom prst="roundRect">
            <a:avLst>
              <a:gd name="adj" fmla="val 4000"/>
            </a:avLst>
          </a:prstGeom>
          <a:solidFill>
            <a:srgbClr val="16283D"/>
          </a:solidFill>
          <a:ln w="9525">
            <a:solidFill>
              <a:srgbClr val="24405F"/>
            </a:solidFill>
            <a:prstDash val="solid"/>
          </a:ln>
        </p:spPr>
      </p:sp>
      <p:sp>
        <p:nvSpPr>
          <p:cNvPr id="8" name="Text 6"/>
          <p:cNvSpPr txBox="1"/>
          <p:nvPr/>
        </p:nvSpPr>
        <p:spPr>
          <a:xfrm>
            <a:off x="3017520" y="3227832"/>
            <a:ext cx="6153912" cy="292608"/>
          </a:xfrm>
          <a:prstGeom prst="rect">
            <a:avLst/>
          </a:prstGeom>
          <a:noFill/>
          <a:ln/>
        </p:spPr>
        <p:txBody>
          <a:bodyPr wrap="square" lIns="0" tIns="0" rIns="0" bIns="0" rtlCol="0" anchor="ctr"/>
          <a:lstStyle/>
          <a:p>
            <a:pPr algn="l" indent="0" marL="0">
              <a:buNone/>
            </a:pPr>
            <a:r>
              <a:rPr lang="en-US" sz="1200" b="1" dirty="0">
                <a:solidFill>
                  <a:srgbClr val="00AEEF"/>
                </a:solidFill>
                <a:latin typeface="Calibri" pitchFamily="34" charset="0"/>
                <a:ea typeface="Calibri" pitchFamily="34" charset="-122"/>
                <a:cs typeface="Calibri" pitchFamily="34" charset="-120"/>
              </a:rPr>
              <a:t>Full Name:  </a:t>
            </a:r>
            <a:pPr algn="l" indent="0" marL="0">
              <a:buNone/>
            </a:pPr>
            <a:r>
              <a:rPr lang="en-US" sz="1200" dirty="0">
                <a:solidFill>
                  <a:srgbClr val="FFFFFF"/>
                </a:solidFill>
                <a:latin typeface="Calibri" pitchFamily="34" charset="0"/>
                <a:ea typeface="Calibri" pitchFamily="34" charset="-122"/>
                <a:cs typeface="Calibri" pitchFamily="34" charset="-120"/>
              </a:rPr>
              <a:t>Dipak Shimpi</a:t>
            </a:r>
            <a:endParaRPr lang="en-US" sz="1200" dirty="0"/>
          </a:p>
        </p:txBody>
      </p:sp>
      <p:sp>
        <p:nvSpPr>
          <p:cNvPr id="9" name="Text 7"/>
          <p:cNvSpPr txBox="1"/>
          <p:nvPr/>
        </p:nvSpPr>
        <p:spPr>
          <a:xfrm>
            <a:off x="3017520" y="3534156"/>
            <a:ext cx="6153912" cy="292608"/>
          </a:xfrm>
          <a:prstGeom prst="rect">
            <a:avLst/>
          </a:prstGeom>
          <a:noFill/>
          <a:ln/>
        </p:spPr>
        <p:txBody>
          <a:bodyPr wrap="square" lIns="0" tIns="0" rIns="0" bIns="0" rtlCol="0" anchor="ctr"/>
          <a:lstStyle/>
          <a:p>
            <a:pPr algn="l" indent="0" marL="0">
              <a:buNone/>
            </a:pPr>
            <a:r>
              <a:rPr lang="en-US" sz="1200" b="1" dirty="0">
                <a:solidFill>
                  <a:srgbClr val="00AEEF"/>
                </a:solidFill>
                <a:latin typeface="Calibri" pitchFamily="34" charset="0"/>
                <a:ea typeface="Calibri" pitchFamily="34" charset="-122"/>
                <a:cs typeface="Calibri" pitchFamily="34" charset="-120"/>
              </a:rPr>
              <a:t>Contact:  </a:t>
            </a:r>
            <a:pPr algn="l" indent="0" marL="0">
              <a:buNone/>
            </a:pPr>
            <a:r>
              <a:rPr lang="en-US" sz="1200" dirty="0">
                <a:solidFill>
                  <a:srgbClr val="FFFFFF"/>
                </a:solidFill>
                <a:latin typeface="Calibri" pitchFamily="34" charset="0"/>
                <a:ea typeface="Calibri" pitchFamily="34" charset="-122"/>
                <a:cs typeface="Calibri" pitchFamily="34" charset="-120"/>
              </a:rPr>
              <a:t>shimpidipak81@gmail.com</a:t>
            </a:r>
            <a:endParaRPr lang="en-US" sz="1200" dirty="0"/>
          </a:p>
        </p:txBody>
      </p:sp>
      <p:sp>
        <p:nvSpPr>
          <p:cNvPr id="10" name="Text 8"/>
          <p:cNvSpPr txBox="1"/>
          <p:nvPr/>
        </p:nvSpPr>
        <p:spPr>
          <a:xfrm>
            <a:off x="3017520" y="3840480"/>
            <a:ext cx="6153912" cy="292608"/>
          </a:xfrm>
          <a:prstGeom prst="rect">
            <a:avLst/>
          </a:prstGeom>
          <a:noFill/>
          <a:ln/>
        </p:spPr>
        <p:txBody>
          <a:bodyPr wrap="square" lIns="0" tIns="0" rIns="0" bIns="0" rtlCol="0" anchor="ctr"/>
          <a:lstStyle/>
          <a:p>
            <a:pPr algn="l" indent="0" marL="0">
              <a:buNone/>
            </a:pPr>
            <a:r>
              <a:rPr lang="en-US" sz="1200" b="1" dirty="0">
                <a:solidFill>
                  <a:srgbClr val="00AEEF"/>
                </a:solidFill>
                <a:latin typeface="Calibri" pitchFamily="34" charset="0"/>
                <a:ea typeface="Calibri" pitchFamily="34" charset="-122"/>
                <a:cs typeface="Calibri" pitchFamily="34" charset="-120"/>
              </a:rPr>
              <a:t>GitHub Repository:  </a:t>
            </a:r>
            <a:pPr algn="l" indent="0" marL="0">
              <a:buNone/>
            </a:pPr>
            <a:r>
              <a:rPr lang="en-US" sz="1200" dirty="0">
                <a:solidFill>
                  <a:srgbClr val="FFFFFF"/>
                </a:solidFill>
                <a:latin typeface="Calibri" pitchFamily="34" charset="0"/>
                <a:ea typeface="Calibri" pitchFamily="34" charset="-122"/>
                <a:cs typeface="Calibri" pitchFamily="34" charset="-120"/>
              </a:rPr>
              <a:t>github.com/dipakshimpi/habotconnect-devops-project</a:t>
            </a:r>
            <a:endParaRPr lang="en-US" sz="1200" dirty="0"/>
          </a:p>
        </p:txBody>
      </p:sp>
      <p:sp>
        <p:nvSpPr>
          <p:cNvPr id="11" name="Text 9"/>
          <p:cNvSpPr txBox="1"/>
          <p:nvPr/>
        </p:nvSpPr>
        <p:spPr>
          <a:xfrm>
            <a:off x="3017520" y="4146804"/>
            <a:ext cx="6153912" cy="292608"/>
          </a:xfrm>
          <a:prstGeom prst="rect">
            <a:avLst/>
          </a:prstGeom>
          <a:noFill/>
          <a:ln/>
        </p:spPr>
        <p:txBody>
          <a:bodyPr wrap="square" lIns="0" tIns="0" rIns="0" bIns="0" rtlCol="0" anchor="ctr"/>
          <a:lstStyle/>
          <a:p>
            <a:pPr algn="l" indent="0" marL="0">
              <a:buNone/>
            </a:pPr>
            <a:r>
              <a:rPr lang="en-US" sz="1200" b="1" dirty="0">
                <a:solidFill>
                  <a:srgbClr val="00AEEF"/>
                </a:solidFill>
                <a:latin typeface="Calibri" pitchFamily="34" charset="0"/>
                <a:ea typeface="Calibri" pitchFamily="34" charset="-122"/>
                <a:cs typeface="Calibri" pitchFamily="34" charset="-120"/>
              </a:rPr>
              <a:t>Position:  </a:t>
            </a:r>
            <a:pPr algn="l" indent="0" marL="0">
              <a:buNone/>
            </a:pPr>
            <a:r>
              <a:rPr lang="en-US" sz="1200" dirty="0">
                <a:solidFill>
                  <a:srgbClr val="FFFFFF"/>
                </a:solidFill>
                <a:latin typeface="Calibri" pitchFamily="34" charset="0"/>
                <a:ea typeface="Calibri" pitchFamily="34" charset="-122"/>
                <a:cs typeface="Calibri" pitchFamily="34" charset="-120"/>
              </a:rPr>
              <a:t>Junior Cloud and DevOps Engineer (Google Cloud Platform / Django / React)</a:t>
            </a:r>
            <a:endParaRPr lang="en-US" sz="1200" dirty="0"/>
          </a:p>
        </p:txBody>
      </p:sp>
      <p:sp>
        <p:nvSpPr>
          <p:cNvPr id="12" name="Text 10"/>
          <p:cNvSpPr txBox="1"/>
          <p:nvPr/>
        </p:nvSpPr>
        <p:spPr>
          <a:xfrm>
            <a:off x="3017520" y="4453128"/>
            <a:ext cx="6153912" cy="292608"/>
          </a:xfrm>
          <a:prstGeom prst="rect">
            <a:avLst/>
          </a:prstGeom>
          <a:noFill/>
          <a:ln/>
        </p:spPr>
        <p:txBody>
          <a:bodyPr wrap="square" lIns="0" tIns="0" rIns="0" bIns="0" rtlCol="0" anchor="ctr"/>
          <a:lstStyle/>
          <a:p>
            <a:pPr algn="l" indent="0" marL="0">
              <a:buNone/>
            </a:pPr>
            <a:r>
              <a:rPr lang="en-US" sz="1200" b="1" dirty="0">
                <a:solidFill>
                  <a:srgbClr val="00AEEF"/>
                </a:solidFill>
                <a:latin typeface="Calibri" pitchFamily="34" charset="0"/>
                <a:ea typeface="Calibri" pitchFamily="34" charset="-122"/>
                <a:cs typeface="Calibri" pitchFamily="34" charset="-120"/>
              </a:rPr>
              <a:t>Submission Deadline:  </a:t>
            </a:r>
            <a:pPr algn="l" indent="0" marL="0">
              <a:buNone/>
            </a:pPr>
            <a:r>
              <a:rPr lang="en-US" sz="1200" dirty="0">
                <a:solidFill>
                  <a:srgbClr val="FFFFFF"/>
                </a:solidFill>
                <a:latin typeface="Calibri" pitchFamily="34" charset="0"/>
                <a:ea typeface="Calibri" pitchFamily="34" charset="-122"/>
                <a:cs typeface="Calibri" pitchFamily="34" charset="-120"/>
              </a:rPr>
              <a:t>13 September 2026</a:t>
            </a:r>
            <a:endParaRPr lang="en-US" sz="1200" dirty="0"/>
          </a:p>
        </p:txBody>
      </p:sp>
      <p:sp>
        <p:nvSpPr>
          <p:cNvPr id="13" name="Shape 11"/>
          <p:cNvSpPr/>
          <p:nvPr/>
        </p:nvSpPr>
        <p:spPr>
          <a:xfrm>
            <a:off x="1592428" y="5440680"/>
            <a:ext cx="1874520" cy="548640"/>
          </a:xfrm>
          <a:prstGeom prst="roundRect">
            <a:avLst>
              <a:gd name="adj" fmla="val 16667"/>
            </a:avLst>
          </a:prstGeom>
          <a:solidFill>
            <a:srgbClr val="1C3350"/>
          </a:solidFill>
          <a:ln w="12700">
            <a:solidFill>
              <a:srgbClr val="00AEEF"/>
            </a:solidFill>
            <a:prstDash val="solid"/>
          </a:ln>
        </p:spPr>
      </p:sp>
      <p:sp>
        <p:nvSpPr>
          <p:cNvPr id="14" name="Text 12"/>
          <p:cNvSpPr txBox="1"/>
          <p:nvPr/>
        </p:nvSpPr>
        <p:spPr>
          <a:xfrm>
            <a:off x="1592428" y="544068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GitHub</a:t>
            </a:r>
            <a:endParaRPr lang="en-US" sz="1300" dirty="0"/>
          </a:p>
        </p:txBody>
      </p:sp>
      <p:sp>
        <p:nvSpPr>
          <p:cNvPr id="15" name="Text 13"/>
          <p:cNvSpPr txBox="1"/>
          <p:nvPr/>
        </p:nvSpPr>
        <p:spPr>
          <a:xfrm>
            <a:off x="3466948" y="5440680"/>
            <a:ext cx="502920" cy="548640"/>
          </a:xfrm>
          <a:prstGeom prst="rect">
            <a:avLst/>
          </a:prstGeom>
          <a:noFill/>
          <a:ln/>
        </p:spPr>
        <p:txBody>
          <a:bodyPr wrap="square" lIns="0" tIns="0" rIns="0" bIns="0" rtlCol="0" anchor="ctr"/>
          <a:lstStyle/>
          <a:p>
            <a:pPr algn="ctr" indent="0" marL="0">
              <a:buNone/>
            </a:pPr>
            <a:r>
              <a:rPr lang="en-US" sz="2000" b="1" dirty="0">
                <a:solidFill>
                  <a:srgbClr val="00AEEF"/>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3969868" y="5440680"/>
            <a:ext cx="1874520" cy="548640"/>
          </a:xfrm>
          <a:prstGeom prst="roundRect">
            <a:avLst>
              <a:gd name="adj" fmla="val 16667"/>
            </a:avLst>
          </a:prstGeom>
          <a:solidFill>
            <a:srgbClr val="1C3350"/>
          </a:solidFill>
          <a:ln w="12700">
            <a:solidFill>
              <a:srgbClr val="00AEEF"/>
            </a:solidFill>
            <a:prstDash val="solid"/>
          </a:ln>
        </p:spPr>
      </p:sp>
      <p:sp>
        <p:nvSpPr>
          <p:cNvPr id="17" name="Text 15"/>
          <p:cNvSpPr txBox="1"/>
          <p:nvPr/>
        </p:nvSpPr>
        <p:spPr>
          <a:xfrm>
            <a:off x="3969868" y="544068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Django</a:t>
            </a:r>
            <a:endParaRPr lang="en-US" sz="1300" dirty="0"/>
          </a:p>
        </p:txBody>
      </p:sp>
      <p:sp>
        <p:nvSpPr>
          <p:cNvPr id="18" name="Text 16"/>
          <p:cNvSpPr txBox="1"/>
          <p:nvPr/>
        </p:nvSpPr>
        <p:spPr>
          <a:xfrm>
            <a:off x="5844388" y="5440680"/>
            <a:ext cx="502920" cy="548640"/>
          </a:xfrm>
          <a:prstGeom prst="rect">
            <a:avLst/>
          </a:prstGeom>
          <a:noFill/>
          <a:ln/>
        </p:spPr>
        <p:txBody>
          <a:bodyPr wrap="square" lIns="0" tIns="0" rIns="0" bIns="0" rtlCol="0" anchor="ctr"/>
          <a:lstStyle/>
          <a:p>
            <a:pPr algn="ctr" indent="0" marL="0">
              <a:buNone/>
            </a:pPr>
            <a:r>
              <a:rPr lang="en-US" sz="2000" b="1" dirty="0">
                <a:solidFill>
                  <a:srgbClr val="00AEEF"/>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6347308" y="5440680"/>
            <a:ext cx="1874520" cy="548640"/>
          </a:xfrm>
          <a:prstGeom prst="roundRect">
            <a:avLst>
              <a:gd name="adj" fmla="val 16667"/>
            </a:avLst>
          </a:prstGeom>
          <a:solidFill>
            <a:srgbClr val="1C3350"/>
          </a:solidFill>
          <a:ln w="12700">
            <a:solidFill>
              <a:srgbClr val="00AEEF"/>
            </a:solidFill>
            <a:prstDash val="solid"/>
          </a:ln>
        </p:spPr>
      </p:sp>
      <p:sp>
        <p:nvSpPr>
          <p:cNvPr id="20" name="Text 18"/>
          <p:cNvSpPr txBox="1"/>
          <p:nvPr/>
        </p:nvSpPr>
        <p:spPr>
          <a:xfrm>
            <a:off x="6347308" y="544068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Cloud Pub/Sub</a:t>
            </a:r>
            <a:endParaRPr lang="en-US" sz="1300" dirty="0"/>
          </a:p>
        </p:txBody>
      </p:sp>
      <p:sp>
        <p:nvSpPr>
          <p:cNvPr id="21" name="Text 19"/>
          <p:cNvSpPr txBox="1"/>
          <p:nvPr/>
        </p:nvSpPr>
        <p:spPr>
          <a:xfrm>
            <a:off x="8221828" y="5440680"/>
            <a:ext cx="502920" cy="548640"/>
          </a:xfrm>
          <a:prstGeom prst="rect">
            <a:avLst/>
          </a:prstGeom>
          <a:noFill/>
          <a:ln/>
        </p:spPr>
        <p:txBody>
          <a:bodyPr wrap="square" lIns="0" tIns="0" rIns="0" bIns="0" rtlCol="0" anchor="ctr"/>
          <a:lstStyle/>
          <a:p>
            <a:pPr algn="ctr" indent="0" marL="0">
              <a:buNone/>
            </a:pPr>
            <a:r>
              <a:rPr lang="en-US" sz="2000" b="1" dirty="0">
                <a:solidFill>
                  <a:srgbClr val="00AEEF"/>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8724748" y="5440680"/>
            <a:ext cx="1874520" cy="548640"/>
          </a:xfrm>
          <a:prstGeom prst="roundRect">
            <a:avLst>
              <a:gd name="adj" fmla="val 16667"/>
            </a:avLst>
          </a:prstGeom>
          <a:solidFill>
            <a:srgbClr val="1C3350"/>
          </a:solidFill>
          <a:ln w="12700">
            <a:solidFill>
              <a:srgbClr val="00AEEF"/>
            </a:solidFill>
            <a:prstDash val="solid"/>
          </a:ln>
        </p:spPr>
      </p:sp>
      <p:sp>
        <p:nvSpPr>
          <p:cNvPr id="23" name="Text 21"/>
          <p:cNvSpPr txBox="1"/>
          <p:nvPr/>
        </p:nvSpPr>
        <p:spPr>
          <a:xfrm>
            <a:off x="8724748" y="544068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BigQuery</a:t>
            </a:r>
            <a:endParaRPr lang="en-US" sz="1300" dirty="0"/>
          </a:p>
        </p:txBody>
      </p:sp>
      <p:sp>
        <p:nvSpPr>
          <p:cNvPr id="24" name="Text 2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The Incident — What Went Wrong</a:t>
            </a:r>
            <a:endParaRPr lang="en-US" sz="2500" dirty="0"/>
          </a:p>
        </p:txBody>
      </p:sp>
      <p:sp>
        <p:nvSpPr>
          <p:cNvPr id="6" name="Shape 4"/>
          <p:cNvSpPr/>
          <p:nvPr/>
        </p:nvSpPr>
        <p:spPr>
          <a:xfrm>
            <a:off x="457200" y="1097280"/>
            <a:ext cx="5440680" cy="3977640"/>
          </a:xfrm>
          <a:prstGeom prst="roundRect">
            <a:avLst>
              <a:gd name="adj" fmla="val 1839"/>
            </a:avLst>
          </a:prstGeom>
          <a:solidFill>
            <a:srgbClr val="16283D"/>
          </a:solidFill>
          <a:ln w="12700">
            <a:solidFill>
              <a:srgbClr val="FF1744"/>
            </a:solidFill>
            <a:prstDash val="solid"/>
          </a:ln>
        </p:spPr>
      </p:sp>
      <p:sp>
        <p:nvSpPr>
          <p:cNvPr id="7" name="Shape 5"/>
          <p:cNvSpPr/>
          <p:nvPr/>
        </p:nvSpPr>
        <p:spPr>
          <a:xfrm>
            <a:off x="685800" y="1280160"/>
            <a:ext cx="1371600" cy="292608"/>
          </a:xfrm>
          <a:prstGeom prst="roundRect">
            <a:avLst>
              <a:gd name="adj" fmla="val 50000"/>
            </a:avLst>
          </a:prstGeom>
          <a:solidFill>
            <a:srgbClr val="FF1744"/>
          </a:solidFill>
          <a:ln/>
        </p:spPr>
      </p:sp>
      <p:sp>
        <p:nvSpPr>
          <p:cNvPr id="8" name="Text 6"/>
          <p:cNvSpPr txBox="1"/>
          <p:nvPr/>
        </p:nvSpPr>
        <p:spPr>
          <a:xfrm>
            <a:off x="685800" y="1280160"/>
            <a:ext cx="13716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INCIDENT 1</a:t>
            </a:r>
            <a:endParaRPr lang="en-US" sz="1000" dirty="0"/>
          </a:p>
        </p:txBody>
      </p:sp>
      <p:sp>
        <p:nvSpPr>
          <p:cNvPr id="9" name="Text 7"/>
          <p:cNvSpPr txBox="1"/>
          <p:nvPr/>
        </p:nvSpPr>
        <p:spPr>
          <a:xfrm>
            <a:off x="685800" y="1691640"/>
            <a:ext cx="4983480" cy="68580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Unencrypted Application Programming Interface Credentials Exposed</a:t>
            </a:r>
            <a:endParaRPr lang="en-US" sz="1500" dirty="0"/>
          </a:p>
        </p:txBody>
      </p:sp>
      <p:sp>
        <p:nvSpPr>
          <p:cNvPr id="10" name="Text 8"/>
          <p:cNvSpPr txBox="1"/>
          <p:nvPr/>
        </p:nvSpPr>
        <p:spPr>
          <a:xfrm>
            <a:off x="685800" y="2423160"/>
            <a:ext cx="4983480" cy="1417320"/>
          </a:xfrm>
          <a:prstGeom prst="rect">
            <a:avLst/>
          </a:prstGeom>
          <a:noFill/>
          <a:ln/>
        </p:spPr>
        <p:txBody>
          <a:bodyPr wrap="square" lIns="50800" tIns="50800" rIns="50800" bIns="50800" rtlCol="0" anchor="t"/>
          <a:lstStyle/>
          <a:p>
            <a:pPr algn="l" marL="177800" indent="-177800">
              <a:lnSpc>
                <a:spcPct val="108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A junior developer committed raw Application Programming Interface secret keys directly into source code</a:t>
            </a:r>
            <a:endParaRPr lang="en-US" sz="1300" dirty="0"/>
          </a:p>
          <a:p>
            <a:pPr algn="l" marL="177800" indent="-177800">
              <a:lnSpc>
                <a:spcPct val="108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No automated gate existed to detect or block the push</a:t>
            </a:r>
            <a:endParaRPr lang="en-US" sz="1300" dirty="0"/>
          </a:p>
        </p:txBody>
      </p:sp>
      <p:sp>
        <p:nvSpPr>
          <p:cNvPr id="11" name="Text 9"/>
          <p:cNvSpPr txBox="1"/>
          <p:nvPr/>
        </p:nvSpPr>
        <p:spPr>
          <a:xfrm>
            <a:off x="685800" y="3977640"/>
            <a:ext cx="4983480" cy="960120"/>
          </a:xfrm>
          <a:prstGeom prst="rect">
            <a:avLst/>
          </a:prstGeom>
          <a:noFill/>
          <a:ln/>
        </p:spPr>
        <p:txBody>
          <a:bodyPr wrap="square" lIns="0" tIns="0" rIns="0" bIns="0" rtlCol="0" anchor="t"/>
          <a:lstStyle/>
          <a:p>
            <a:pPr algn="l" indent="0" marL="0">
              <a:buNone/>
            </a:pPr>
            <a:r>
              <a:rPr lang="en-US" sz="1250" b="1" dirty="0">
                <a:solidFill>
                  <a:srgbClr val="FF1744"/>
                </a:solidFill>
                <a:latin typeface="Calibri" pitchFamily="34" charset="0"/>
                <a:ea typeface="Calibri" pitchFamily="34" charset="-122"/>
                <a:cs typeface="Calibri" pitchFamily="34" charset="-120"/>
              </a:rPr>
              <a:t>Result:  </a:t>
            </a:r>
            <a:pPr algn="l" indent="0" marL="0">
              <a:buNone/>
            </a:pPr>
            <a:r>
              <a:rPr lang="en-US" sz="1250" dirty="0">
                <a:solidFill>
                  <a:srgbClr val="FFFFFF"/>
                </a:solidFill>
                <a:latin typeface="Calibri" pitchFamily="34" charset="0"/>
                <a:ea typeface="Calibri" pitchFamily="34" charset="-122"/>
                <a:cs typeface="Calibri" pitchFamily="34" charset="-120"/>
              </a:rPr>
              <a:t>Potential unauthorized access to production cloud resources</a:t>
            </a:r>
            <a:endParaRPr lang="en-US" sz="1250" dirty="0"/>
          </a:p>
        </p:txBody>
      </p:sp>
      <p:sp>
        <p:nvSpPr>
          <p:cNvPr id="12" name="Shape 10"/>
          <p:cNvSpPr/>
          <p:nvPr/>
        </p:nvSpPr>
        <p:spPr>
          <a:xfrm>
            <a:off x="6291072" y="1097280"/>
            <a:ext cx="5440680" cy="3977640"/>
          </a:xfrm>
          <a:prstGeom prst="roundRect">
            <a:avLst>
              <a:gd name="adj" fmla="val 1839"/>
            </a:avLst>
          </a:prstGeom>
          <a:solidFill>
            <a:srgbClr val="16283D"/>
          </a:solidFill>
          <a:ln w="12700">
            <a:solidFill>
              <a:srgbClr val="FF1744"/>
            </a:solidFill>
            <a:prstDash val="solid"/>
          </a:ln>
        </p:spPr>
      </p:sp>
      <p:sp>
        <p:nvSpPr>
          <p:cNvPr id="13" name="Shape 11"/>
          <p:cNvSpPr/>
          <p:nvPr/>
        </p:nvSpPr>
        <p:spPr>
          <a:xfrm>
            <a:off x="6519672" y="1280160"/>
            <a:ext cx="1371600" cy="292608"/>
          </a:xfrm>
          <a:prstGeom prst="roundRect">
            <a:avLst>
              <a:gd name="adj" fmla="val 50000"/>
            </a:avLst>
          </a:prstGeom>
          <a:solidFill>
            <a:srgbClr val="FF1744"/>
          </a:solidFill>
          <a:ln/>
        </p:spPr>
      </p:sp>
      <p:sp>
        <p:nvSpPr>
          <p:cNvPr id="14" name="Text 12"/>
          <p:cNvSpPr txBox="1"/>
          <p:nvPr/>
        </p:nvSpPr>
        <p:spPr>
          <a:xfrm>
            <a:off x="6519672" y="1280160"/>
            <a:ext cx="13716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INCIDENT 2</a:t>
            </a:r>
            <a:endParaRPr lang="en-US" sz="1000" dirty="0"/>
          </a:p>
        </p:txBody>
      </p:sp>
      <p:sp>
        <p:nvSpPr>
          <p:cNvPr id="15" name="Text 13"/>
          <p:cNvSpPr txBox="1"/>
          <p:nvPr/>
        </p:nvSpPr>
        <p:spPr>
          <a:xfrm>
            <a:off x="6519672" y="1691640"/>
            <a:ext cx="4983480" cy="68580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Database Schema Mismatch Broke Downstream Analytics</a:t>
            </a:r>
            <a:endParaRPr lang="en-US" sz="1500" dirty="0"/>
          </a:p>
        </p:txBody>
      </p:sp>
      <p:sp>
        <p:nvSpPr>
          <p:cNvPr id="16" name="Text 14"/>
          <p:cNvSpPr txBox="1"/>
          <p:nvPr/>
        </p:nvSpPr>
        <p:spPr>
          <a:xfrm>
            <a:off x="6519672" y="2423160"/>
            <a:ext cx="4983480" cy="1417320"/>
          </a:xfrm>
          <a:prstGeom prst="rect">
            <a:avLst/>
          </a:prstGeom>
          <a:noFill/>
          <a:ln/>
        </p:spPr>
        <p:txBody>
          <a:bodyPr wrap="square" lIns="50800" tIns="50800" rIns="50800" bIns="50800" rtlCol="0" anchor="t"/>
          <a:lstStyle/>
          <a:p>
            <a:pPr algn="l" marL="177800" indent="-177800">
              <a:lnSpc>
                <a:spcPct val="108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A schema change was deployed without validation</a:t>
            </a:r>
            <a:endParaRPr lang="en-US" sz="1300" dirty="0"/>
          </a:p>
          <a:p>
            <a:pPr algn="l" marL="177800" indent="-177800">
              <a:lnSpc>
                <a:spcPct val="108000"/>
              </a:lnSpc>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The BigQuery D1 table received incompatible data</a:t>
            </a:r>
            <a:endParaRPr lang="en-US" sz="1300" dirty="0"/>
          </a:p>
        </p:txBody>
      </p:sp>
      <p:sp>
        <p:nvSpPr>
          <p:cNvPr id="17" name="Text 15"/>
          <p:cNvSpPr txBox="1"/>
          <p:nvPr/>
        </p:nvSpPr>
        <p:spPr>
          <a:xfrm>
            <a:off x="6519672" y="3977640"/>
            <a:ext cx="4983480" cy="960120"/>
          </a:xfrm>
          <a:prstGeom prst="rect">
            <a:avLst/>
          </a:prstGeom>
          <a:noFill/>
          <a:ln/>
        </p:spPr>
        <p:txBody>
          <a:bodyPr wrap="square" lIns="0" tIns="0" rIns="0" bIns="0" rtlCol="0" anchor="t"/>
          <a:lstStyle/>
          <a:p>
            <a:pPr algn="l" indent="0" marL="0">
              <a:buNone/>
            </a:pPr>
            <a:r>
              <a:rPr lang="en-US" sz="1250" b="1" dirty="0">
                <a:solidFill>
                  <a:srgbClr val="FF1744"/>
                </a:solidFill>
                <a:latin typeface="Calibri" pitchFamily="34" charset="0"/>
                <a:ea typeface="Calibri" pitchFamily="34" charset="-122"/>
                <a:cs typeface="Calibri" pitchFamily="34" charset="-120"/>
              </a:rPr>
              <a:t>Result:  </a:t>
            </a:r>
            <a:pPr algn="l" indent="0" marL="0">
              <a:buNone/>
            </a:pPr>
            <a:r>
              <a:rPr lang="en-US" sz="1250" dirty="0">
                <a:solidFill>
                  <a:srgbClr val="FFFFFF"/>
                </a:solidFill>
                <a:latin typeface="Calibri" pitchFamily="34" charset="0"/>
                <a:ea typeface="Calibri" pitchFamily="34" charset="-122"/>
                <a:cs typeface="Calibri" pitchFamily="34" charset="-120"/>
              </a:rPr>
              <a:t>Downstream analytics pipeline silently failed and produced incorrect reports</a:t>
            </a:r>
            <a:endParaRPr lang="en-US" sz="1250" dirty="0"/>
          </a:p>
        </p:txBody>
      </p:sp>
      <p:sp>
        <p:nvSpPr>
          <p:cNvPr id="18" name="Shape 16"/>
          <p:cNvSpPr/>
          <p:nvPr/>
        </p:nvSpPr>
        <p:spPr>
          <a:xfrm>
            <a:off x="457200" y="5257800"/>
            <a:ext cx="11274552" cy="868680"/>
          </a:xfrm>
          <a:prstGeom prst="roundRect">
            <a:avLst>
              <a:gd name="adj" fmla="val 8421"/>
            </a:avLst>
          </a:prstGeom>
          <a:solidFill>
            <a:srgbClr val="0B2E45"/>
          </a:solidFill>
          <a:ln w="12700">
            <a:solidFill>
              <a:srgbClr val="00AEEF"/>
            </a:solidFill>
            <a:prstDash val="solid"/>
          </a:ln>
        </p:spPr>
      </p:sp>
      <p:sp>
        <p:nvSpPr>
          <p:cNvPr id="19" name="Text 17"/>
          <p:cNvSpPr txBox="1"/>
          <p:nvPr/>
        </p:nvSpPr>
        <p:spPr>
          <a:xfrm>
            <a:off x="731520" y="5257800"/>
            <a:ext cx="10725912" cy="868680"/>
          </a:xfrm>
          <a:prstGeom prst="rect">
            <a:avLst/>
          </a:prstGeom>
          <a:noFill/>
          <a:ln/>
        </p:spPr>
        <p:txBody>
          <a:bodyPr wrap="square" lIns="0" tIns="0" rIns="0" bIns="0" rtlCol="0" anchor="ctr"/>
          <a:lstStyle/>
          <a:p>
            <a:pPr algn="ctr" indent="0" marL="0">
              <a:buNone/>
            </a:pPr>
            <a:r>
              <a:rPr lang="en-US" sz="1400" b="1" i="1" dirty="0">
                <a:solidFill>
                  <a:srgbClr val="7FD8FF"/>
                </a:solidFill>
                <a:latin typeface="Calibri" pitchFamily="34" charset="0"/>
                <a:ea typeface="Calibri" pitchFamily="34" charset="-122"/>
                <a:cs typeface="Calibri" pitchFamily="34" charset="-120"/>
              </a:rPr>
              <a:t>The solution must remove reliance on human memory and judgment. Automated controls must make mistakes impossible, not just unlikely.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Solution Architecture — Three Layers of Mistake-Proofing</a:t>
            </a:r>
            <a:endParaRPr lang="en-US" sz="2500" dirty="0"/>
          </a:p>
        </p:txBody>
      </p:sp>
      <p:sp>
        <p:nvSpPr>
          <p:cNvPr id="6" name="Shape 4"/>
          <p:cNvSpPr/>
          <p:nvPr/>
        </p:nvSpPr>
        <p:spPr>
          <a:xfrm>
            <a:off x="457200" y="1051560"/>
            <a:ext cx="7315200" cy="896112"/>
          </a:xfrm>
          <a:prstGeom prst="roundRect">
            <a:avLst>
              <a:gd name="adj" fmla="val 8163"/>
            </a:avLst>
          </a:prstGeom>
          <a:solidFill>
            <a:srgbClr val="16283D"/>
          </a:solidFill>
          <a:ln w="9525">
            <a:solidFill>
              <a:srgbClr val="24405F"/>
            </a:solidFill>
            <a:prstDash val="solid"/>
          </a:ln>
        </p:spPr>
      </p:sp>
      <p:sp>
        <p:nvSpPr>
          <p:cNvPr id="7" name="Text 5"/>
          <p:cNvSpPr txBox="1"/>
          <p:nvPr/>
        </p:nvSpPr>
        <p:spPr>
          <a:xfrm>
            <a:off x="685800" y="1124712"/>
            <a:ext cx="685800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Developer Commit</a:t>
            </a:r>
            <a:endParaRPr lang="en-US" sz="1400" dirty="0"/>
          </a:p>
        </p:txBody>
      </p:sp>
      <p:sp>
        <p:nvSpPr>
          <p:cNvPr id="8" name="Shape 6"/>
          <p:cNvSpPr/>
          <p:nvPr/>
        </p:nvSpPr>
        <p:spPr>
          <a:xfrm>
            <a:off x="3977640" y="1947672"/>
            <a:ext cx="274320" cy="192024"/>
          </a:xfrm>
          <a:prstGeom prst="downArrow">
            <a:avLst/>
          </a:prstGeom>
          <a:solidFill>
            <a:srgbClr val="00AEEF"/>
          </a:solidFill>
          <a:ln/>
        </p:spPr>
      </p:sp>
      <p:sp>
        <p:nvSpPr>
          <p:cNvPr id="9" name="Shape 7"/>
          <p:cNvSpPr/>
          <p:nvPr/>
        </p:nvSpPr>
        <p:spPr>
          <a:xfrm>
            <a:off x="457200" y="2157984"/>
            <a:ext cx="7315200" cy="896112"/>
          </a:xfrm>
          <a:prstGeom prst="roundRect">
            <a:avLst>
              <a:gd name="adj" fmla="val 8163"/>
            </a:avLst>
          </a:prstGeom>
          <a:solidFill>
            <a:srgbClr val="16283D"/>
          </a:solidFill>
          <a:ln w="9525">
            <a:solidFill>
              <a:srgbClr val="24405F"/>
            </a:solidFill>
            <a:prstDash val="solid"/>
          </a:ln>
        </p:spPr>
      </p:sp>
      <p:sp>
        <p:nvSpPr>
          <p:cNvPr id="10" name="Text 8"/>
          <p:cNvSpPr txBox="1"/>
          <p:nvPr/>
        </p:nvSpPr>
        <p:spPr>
          <a:xfrm>
            <a:off x="685800" y="2231136"/>
            <a:ext cx="576072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GitHub Actions Poka-Yoke Gate</a:t>
            </a:r>
            <a:endParaRPr lang="en-US" sz="1400" dirty="0"/>
          </a:p>
        </p:txBody>
      </p:sp>
      <p:sp>
        <p:nvSpPr>
          <p:cNvPr id="11" name="Text 9"/>
          <p:cNvSpPr txBox="1"/>
          <p:nvPr/>
        </p:nvSpPr>
        <p:spPr>
          <a:xfrm>
            <a:off x="685800" y="2596896"/>
            <a:ext cx="6858000" cy="384048"/>
          </a:xfrm>
          <a:prstGeom prst="rect">
            <a:avLst/>
          </a:prstGeom>
          <a:noFill/>
          <a:ln/>
        </p:spPr>
        <p:txBody>
          <a:bodyPr wrap="square" lIns="0" tIns="0" rIns="0" bIns="0" rtlCol="0" anchor="t"/>
          <a:lstStyle/>
          <a:p>
            <a:pPr algn="l" indent="0" marL="0">
              <a:buNone/>
            </a:pPr>
            <a:r>
              <a:rPr lang="en-US" sz="950" dirty="0">
                <a:solidFill>
                  <a:srgbClr val="8FA3B8"/>
                </a:solidFill>
                <a:latin typeface="Courier New" pitchFamily="34" charset="0"/>
                <a:ea typeface="Courier New" pitchFamily="34" charset="-122"/>
                <a:cs typeface="Courier New" pitchFamily="34" charset="-120"/>
              </a:rPr>
              <a:t>Flake8  |  Black  |  yamllint  |  Terraform fmt / validate  |  Frontend Check  |  Gitleaks</a:t>
            </a:r>
            <a:endParaRPr lang="en-US" sz="950" dirty="0"/>
          </a:p>
        </p:txBody>
      </p:sp>
      <p:sp>
        <p:nvSpPr>
          <p:cNvPr id="12" name="Shape 10"/>
          <p:cNvSpPr/>
          <p:nvPr/>
        </p:nvSpPr>
        <p:spPr>
          <a:xfrm>
            <a:off x="6537960" y="2459736"/>
            <a:ext cx="1005840" cy="292608"/>
          </a:xfrm>
          <a:prstGeom prst="roundRect">
            <a:avLst>
              <a:gd name="adj" fmla="val 50000"/>
            </a:avLst>
          </a:prstGeom>
          <a:solidFill>
            <a:srgbClr val="00C853"/>
          </a:solidFill>
          <a:ln/>
        </p:spPr>
      </p:sp>
      <p:sp>
        <p:nvSpPr>
          <p:cNvPr id="13" name="Text 11"/>
          <p:cNvSpPr txBox="1"/>
          <p:nvPr/>
        </p:nvSpPr>
        <p:spPr>
          <a:xfrm>
            <a:off x="6537960" y="2459736"/>
            <a:ext cx="10058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PASS</a:t>
            </a:r>
            <a:endParaRPr lang="en-US" sz="1000" dirty="0"/>
          </a:p>
        </p:txBody>
      </p:sp>
      <p:sp>
        <p:nvSpPr>
          <p:cNvPr id="14" name="Shape 12"/>
          <p:cNvSpPr/>
          <p:nvPr/>
        </p:nvSpPr>
        <p:spPr>
          <a:xfrm>
            <a:off x="3977640" y="3054096"/>
            <a:ext cx="274320" cy="192024"/>
          </a:xfrm>
          <a:prstGeom prst="downArrow">
            <a:avLst/>
          </a:prstGeom>
          <a:solidFill>
            <a:srgbClr val="00AEEF"/>
          </a:solidFill>
          <a:ln/>
        </p:spPr>
      </p:sp>
      <p:sp>
        <p:nvSpPr>
          <p:cNvPr id="15" name="Shape 13"/>
          <p:cNvSpPr/>
          <p:nvPr/>
        </p:nvSpPr>
        <p:spPr>
          <a:xfrm>
            <a:off x="457200" y="3264408"/>
            <a:ext cx="7315200" cy="896112"/>
          </a:xfrm>
          <a:prstGeom prst="roundRect">
            <a:avLst>
              <a:gd name="adj" fmla="val 8163"/>
            </a:avLst>
          </a:prstGeom>
          <a:solidFill>
            <a:srgbClr val="16283D"/>
          </a:solidFill>
          <a:ln w="9525">
            <a:solidFill>
              <a:srgbClr val="24405F"/>
            </a:solidFill>
            <a:prstDash val="solid"/>
          </a:ln>
        </p:spPr>
      </p:sp>
      <p:sp>
        <p:nvSpPr>
          <p:cNvPr id="16" name="Text 14"/>
          <p:cNvSpPr txBox="1"/>
          <p:nvPr/>
        </p:nvSpPr>
        <p:spPr>
          <a:xfrm>
            <a:off x="685800" y="3337560"/>
            <a:ext cx="576072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Django REST Framework Application</a:t>
            </a:r>
            <a:endParaRPr lang="en-US" sz="1400" dirty="0"/>
          </a:p>
        </p:txBody>
      </p:sp>
      <p:sp>
        <p:nvSpPr>
          <p:cNvPr id="17" name="Text 15"/>
          <p:cNvSpPr txBox="1"/>
          <p:nvPr/>
        </p:nvSpPr>
        <p:spPr>
          <a:xfrm>
            <a:off x="685800" y="3703320"/>
            <a:ext cx="6858000" cy="384048"/>
          </a:xfrm>
          <a:prstGeom prst="rect">
            <a:avLst/>
          </a:prstGeom>
          <a:noFill/>
          <a:ln/>
        </p:spPr>
        <p:txBody>
          <a:bodyPr wrap="square" lIns="0" tIns="0" rIns="0" bIns="0" rtlCol="0" anchor="t"/>
          <a:lstStyle/>
          <a:p>
            <a:pPr algn="l" indent="0" marL="0">
              <a:buNone/>
            </a:pPr>
            <a:r>
              <a:rPr lang="en-US" sz="950" dirty="0">
                <a:solidFill>
                  <a:srgbClr val="8FA3B8"/>
                </a:solidFill>
                <a:latin typeface="Courier New" pitchFamily="34" charset="0"/>
                <a:ea typeface="Courier New" pitchFamily="34" charset="-122"/>
                <a:cs typeface="Courier New" pitchFamily="34" charset="-120"/>
              </a:rPr>
              <a:t>Model Serializer → Deconstructed Clean Yes/No Validation</a:t>
            </a:r>
            <a:endParaRPr lang="en-US" sz="950" dirty="0"/>
          </a:p>
        </p:txBody>
      </p:sp>
      <p:sp>
        <p:nvSpPr>
          <p:cNvPr id="18" name="Shape 16"/>
          <p:cNvSpPr/>
          <p:nvPr/>
        </p:nvSpPr>
        <p:spPr>
          <a:xfrm>
            <a:off x="6537960" y="3566160"/>
            <a:ext cx="1005840" cy="292608"/>
          </a:xfrm>
          <a:prstGeom prst="roundRect">
            <a:avLst>
              <a:gd name="adj" fmla="val 50000"/>
            </a:avLst>
          </a:prstGeom>
          <a:solidFill>
            <a:srgbClr val="00C853"/>
          </a:solidFill>
          <a:ln/>
        </p:spPr>
      </p:sp>
      <p:sp>
        <p:nvSpPr>
          <p:cNvPr id="19" name="Text 17"/>
          <p:cNvSpPr txBox="1"/>
          <p:nvPr/>
        </p:nvSpPr>
        <p:spPr>
          <a:xfrm>
            <a:off x="6537960" y="3566160"/>
            <a:ext cx="10058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ACCEPT</a:t>
            </a:r>
            <a:endParaRPr lang="en-US" sz="1000" dirty="0"/>
          </a:p>
        </p:txBody>
      </p:sp>
      <p:sp>
        <p:nvSpPr>
          <p:cNvPr id="20" name="Shape 18"/>
          <p:cNvSpPr/>
          <p:nvPr/>
        </p:nvSpPr>
        <p:spPr>
          <a:xfrm>
            <a:off x="3977640" y="4160520"/>
            <a:ext cx="274320" cy="192024"/>
          </a:xfrm>
          <a:prstGeom prst="downArrow">
            <a:avLst/>
          </a:prstGeom>
          <a:solidFill>
            <a:srgbClr val="00AEEF"/>
          </a:solidFill>
          <a:ln/>
        </p:spPr>
      </p:sp>
      <p:sp>
        <p:nvSpPr>
          <p:cNvPr id="21" name="Shape 19"/>
          <p:cNvSpPr/>
          <p:nvPr/>
        </p:nvSpPr>
        <p:spPr>
          <a:xfrm>
            <a:off x="457200" y="4370832"/>
            <a:ext cx="7315200" cy="896112"/>
          </a:xfrm>
          <a:prstGeom prst="roundRect">
            <a:avLst>
              <a:gd name="adj" fmla="val 8163"/>
            </a:avLst>
          </a:prstGeom>
          <a:solidFill>
            <a:srgbClr val="16283D"/>
          </a:solidFill>
          <a:ln w="9525">
            <a:solidFill>
              <a:srgbClr val="24405F"/>
            </a:solidFill>
            <a:prstDash val="solid"/>
          </a:ln>
        </p:spPr>
      </p:sp>
      <p:sp>
        <p:nvSpPr>
          <p:cNvPr id="22" name="Text 20"/>
          <p:cNvSpPr txBox="1"/>
          <p:nvPr/>
        </p:nvSpPr>
        <p:spPr>
          <a:xfrm>
            <a:off x="685800" y="4443984"/>
            <a:ext cx="576072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Google Cloud Pub/Sub</a:t>
            </a:r>
            <a:endParaRPr lang="en-US" sz="1400" dirty="0"/>
          </a:p>
        </p:txBody>
      </p:sp>
      <p:sp>
        <p:nvSpPr>
          <p:cNvPr id="23" name="Text 21"/>
          <p:cNvSpPr txBox="1"/>
          <p:nvPr/>
        </p:nvSpPr>
        <p:spPr>
          <a:xfrm>
            <a:off x="685800" y="4809744"/>
            <a:ext cx="6858000" cy="384048"/>
          </a:xfrm>
          <a:prstGeom prst="rect">
            <a:avLst/>
          </a:prstGeom>
          <a:noFill/>
          <a:ln/>
        </p:spPr>
        <p:txBody>
          <a:bodyPr wrap="square" lIns="0" tIns="0" rIns="0" bIns="0" rtlCol="0" anchor="t"/>
          <a:lstStyle/>
          <a:p>
            <a:pPr algn="l" indent="0" marL="0">
              <a:buNone/>
            </a:pPr>
            <a:r>
              <a:rPr lang="en-US" sz="950" dirty="0">
                <a:solidFill>
                  <a:srgbClr val="8FA3B8"/>
                </a:solidFill>
                <a:latin typeface="Courier New" pitchFamily="34" charset="0"/>
                <a:ea typeface="Courier New" pitchFamily="34" charset="-122"/>
                <a:cs typeface="Courier New" pitchFamily="34" charset="-120"/>
              </a:rPr>
              <a:t>AVRO Schema Contract (student-onboarding-schema)</a:t>
            </a:r>
            <a:endParaRPr lang="en-US" sz="950" dirty="0"/>
          </a:p>
        </p:txBody>
      </p:sp>
      <p:sp>
        <p:nvSpPr>
          <p:cNvPr id="24" name="Shape 22"/>
          <p:cNvSpPr/>
          <p:nvPr/>
        </p:nvSpPr>
        <p:spPr>
          <a:xfrm>
            <a:off x="6537960" y="4672584"/>
            <a:ext cx="1005840" cy="292608"/>
          </a:xfrm>
          <a:prstGeom prst="roundRect">
            <a:avLst>
              <a:gd name="adj" fmla="val 50000"/>
            </a:avLst>
          </a:prstGeom>
          <a:solidFill>
            <a:srgbClr val="00AEEF"/>
          </a:solidFill>
          <a:ln/>
        </p:spPr>
      </p:sp>
      <p:sp>
        <p:nvSpPr>
          <p:cNvPr id="25" name="Text 23"/>
          <p:cNvSpPr txBox="1"/>
          <p:nvPr/>
        </p:nvSpPr>
        <p:spPr>
          <a:xfrm>
            <a:off x="6537960" y="4672584"/>
            <a:ext cx="10058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STREAM</a:t>
            </a:r>
            <a:endParaRPr lang="en-US" sz="1000" dirty="0"/>
          </a:p>
        </p:txBody>
      </p:sp>
      <p:sp>
        <p:nvSpPr>
          <p:cNvPr id="26" name="Shape 24"/>
          <p:cNvSpPr/>
          <p:nvPr/>
        </p:nvSpPr>
        <p:spPr>
          <a:xfrm>
            <a:off x="3977640" y="5266944"/>
            <a:ext cx="274320" cy="192024"/>
          </a:xfrm>
          <a:prstGeom prst="downArrow">
            <a:avLst/>
          </a:prstGeom>
          <a:solidFill>
            <a:srgbClr val="00AEEF"/>
          </a:solidFill>
          <a:ln/>
        </p:spPr>
      </p:sp>
      <p:sp>
        <p:nvSpPr>
          <p:cNvPr id="27" name="Shape 25"/>
          <p:cNvSpPr/>
          <p:nvPr/>
        </p:nvSpPr>
        <p:spPr>
          <a:xfrm>
            <a:off x="457200" y="5477256"/>
            <a:ext cx="7315200" cy="896112"/>
          </a:xfrm>
          <a:prstGeom prst="roundRect">
            <a:avLst>
              <a:gd name="adj" fmla="val 8163"/>
            </a:avLst>
          </a:prstGeom>
          <a:solidFill>
            <a:srgbClr val="16283D"/>
          </a:solidFill>
          <a:ln w="9525">
            <a:solidFill>
              <a:srgbClr val="24405F"/>
            </a:solidFill>
            <a:prstDash val="solid"/>
          </a:ln>
        </p:spPr>
      </p:sp>
      <p:sp>
        <p:nvSpPr>
          <p:cNvPr id="28" name="Text 26"/>
          <p:cNvSpPr txBox="1"/>
          <p:nvPr/>
        </p:nvSpPr>
        <p:spPr>
          <a:xfrm>
            <a:off x="685800" y="5550408"/>
            <a:ext cx="685800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Google Cloud BigQuery D1 (Staged / Enforced)</a:t>
            </a:r>
            <a:endParaRPr lang="en-US" sz="1400" dirty="0"/>
          </a:p>
        </p:txBody>
      </p:sp>
      <p:sp>
        <p:nvSpPr>
          <p:cNvPr id="29" name="Text 27"/>
          <p:cNvSpPr txBox="1"/>
          <p:nvPr/>
        </p:nvSpPr>
        <p:spPr>
          <a:xfrm>
            <a:off x="685800" y="5916168"/>
            <a:ext cx="6858000" cy="384048"/>
          </a:xfrm>
          <a:prstGeom prst="rect">
            <a:avLst/>
          </a:prstGeom>
          <a:noFill/>
          <a:ln/>
        </p:spPr>
        <p:txBody>
          <a:bodyPr wrap="square" lIns="0" tIns="0" rIns="0" bIns="0" rtlCol="0" anchor="t"/>
          <a:lstStyle/>
          <a:p>
            <a:pPr algn="l" indent="0" marL="0">
              <a:buNone/>
            </a:pPr>
            <a:r>
              <a:rPr lang="en-US" sz="950" dirty="0">
                <a:solidFill>
                  <a:srgbClr val="8FA3B8"/>
                </a:solidFill>
                <a:latin typeface="Courier New" pitchFamily="34" charset="0"/>
                <a:ea typeface="Courier New" pitchFamily="34" charset="-122"/>
                <a:cs typeface="Courier New" pitchFamily="34" charset="-120"/>
              </a:rPr>
              <a:t>Row-Level Security  |  Strict Table Schema  |  Analytics Access</a:t>
            </a:r>
            <a:endParaRPr lang="en-US" sz="950" dirty="0"/>
          </a:p>
        </p:txBody>
      </p:sp>
      <p:sp>
        <p:nvSpPr>
          <p:cNvPr id="30" name="Text 28"/>
          <p:cNvSpPr txBox="1"/>
          <p:nvPr/>
        </p:nvSpPr>
        <p:spPr>
          <a:xfrm>
            <a:off x="8074152" y="1051560"/>
            <a:ext cx="3639312" cy="365760"/>
          </a:xfrm>
          <a:prstGeom prst="rect">
            <a:avLst/>
          </a:prstGeom>
          <a:noFill/>
          <a:ln/>
        </p:spPr>
        <p:txBody>
          <a:bodyPr wrap="square" lIns="0" tIns="0" rIns="0" bIns="0" rtlCol="0" anchor="ctr"/>
          <a:lstStyle/>
          <a:p>
            <a:pPr algn="l" indent="0" marL="0">
              <a:buNone/>
            </a:pPr>
            <a:r>
              <a:rPr lang="en-US" sz="1500" b="1" dirty="0">
                <a:solidFill>
                  <a:srgbClr val="00AEEF"/>
                </a:solidFill>
                <a:latin typeface="Calibri" pitchFamily="34" charset="0"/>
                <a:ea typeface="Calibri" pitchFamily="34" charset="-122"/>
                <a:cs typeface="Calibri" pitchFamily="34" charset="-120"/>
              </a:rPr>
              <a:t>Boundary Layers</a:t>
            </a:r>
            <a:endParaRPr lang="en-US" sz="1500" dirty="0"/>
          </a:p>
        </p:txBody>
      </p:sp>
      <p:sp>
        <p:nvSpPr>
          <p:cNvPr id="31" name="Shape 29"/>
          <p:cNvSpPr/>
          <p:nvPr/>
        </p:nvSpPr>
        <p:spPr>
          <a:xfrm>
            <a:off x="8074152" y="1508760"/>
            <a:ext cx="3639312" cy="1234440"/>
          </a:xfrm>
          <a:prstGeom prst="roundRect">
            <a:avLst>
              <a:gd name="adj" fmla="val 5926"/>
            </a:avLst>
          </a:prstGeom>
          <a:solidFill>
            <a:srgbClr val="16283D"/>
          </a:solidFill>
          <a:ln w="9525">
            <a:solidFill>
              <a:srgbClr val="24405F"/>
            </a:solidFill>
            <a:prstDash val="solid"/>
          </a:ln>
        </p:spPr>
      </p:sp>
      <p:sp>
        <p:nvSpPr>
          <p:cNvPr id="32" name="Text 30"/>
          <p:cNvSpPr txBox="1"/>
          <p:nvPr/>
        </p:nvSpPr>
        <p:spPr>
          <a:xfrm>
            <a:off x="8257032" y="1618488"/>
            <a:ext cx="3273552" cy="274320"/>
          </a:xfrm>
          <a:prstGeom prst="rect">
            <a:avLst/>
          </a:prstGeom>
          <a:noFill/>
          <a:ln/>
        </p:spPr>
        <p:txBody>
          <a:bodyPr wrap="square" lIns="0" tIns="0" rIns="0" bIns="0" rtlCol="0" anchor="ctr"/>
          <a:lstStyle/>
          <a:p>
            <a:pPr algn="l" indent="0" marL="0">
              <a:buNone/>
            </a:pPr>
            <a:r>
              <a:rPr lang="en-US" sz="1200" b="1" dirty="0">
                <a:solidFill>
                  <a:srgbClr val="00AEEF"/>
                </a:solidFill>
                <a:latin typeface="Calibri" pitchFamily="34" charset="0"/>
                <a:ea typeface="Calibri" pitchFamily="34" charset="-122"/>
                <a:cs typeface="Calibri" pitchFamily="34" charset="-120"/>
              </a:rPr>
              <a:t>Boundary 1</a:t>
            </a:r>
            <a:endParaRPr lang="en-US" sz="1200" dirty="0"/>
          </a:p>
        </p:txBody>
      </p:sp>
      <p:sp>
        <p:nvSpPr>
          <p:cNvPr id="33" name="Text 31"/>
          <p:cNvSpPr txBox="1"/>
          <p:nvPr/>
        </p:nvSpPr>
        <p:spPr>
          <a:xfrm>
            <a:off x="8257032" y="1920240"/>
            <a:ext cx="3273552" cy="73152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Development Gate (GitHub Actions)</a:t>
            </a:r>
            <a:endParaRPr lang="en-US" sz="1200" dirty="0"/>
          </a:p>
        </p:txBody>
      </p:sp>
      <p:sp>
        <p:nvSpPr>
          <p:cNvPr id="34" name="Shape 32"/>
          <p:cNvSpPr/>
          <p:nvPr/>
        </p:nvSpPr>
        <p:spPr>
          <a:xfrm>
            <a:off x="8074152" y="2880360"/>
            <a:ext cx="3639312" cy="1234440"/>
          </a:xfrm>
          <a:prstGeom prst="roundRect">
            <a:avLst>
              <a:gd name="adj" fmla="val 5926"/>
            </a:avLst>
          </a:prstGeom>
          <a:solidFill>
            <a:srgbClr val="16283D"/>
          </a:solidFill>
          <a:ln w="9525">
            <a:solidFill>
              <a:srgbClr val="24405F"/>
            </a:solidFill>
            <a:prstDash val="solid"/>
          </a:ln>
        </p:spPr>
      </p:sp>
      <p:sp>
        <p:nvSpPr>
          <p:cNvPr id="35" name="Text 33"/>
          <p:cNvSpPr txBox="1"/>
          <p:nvPr/>
        </p:nvSpPr>
        <p:spPr>
          <a:xfrm>
            <a:off x="8257032" y="2990088"/>
            <a:ext cx="3273552" cy="274320"/>
          </a:xfrm>
          <a:prstGeom prst="rect">
            <a:avLst/>
          </a:prstGeom>
          <a:noFill/>
          <a:ln/>
        </p:spPr>
        <p:txBody>
          <a:bodyPr wrap="square" lIns="0" tIns="0" rIns="0" bIns="0" rtlCol="0" anchor="ctr"/>
          <a:lstStyle/>
          <a:p>
            <a:pPr algn="l" indent="0" marL="0">
              <a:buNone/>
            </a:pPr>
            <a:r>
              <a:rPr lang="en-US" sz="1200" b="1" dirty="0">
                <a:solidFill>
                  <a:srgbClr val="00AEEF"/>
                </a:solidFill>
                <a:latin typeface="Calibri" pitchFamily="34" charset="0"/>
                <a:ea typeface="Calibri" pitchFamily="34" charset="-122"/>
                <a:cs typeface="Calibri" pitchFamily="34" charset="-120"/>
              </a:rPr>
              <a:t>Boundary 2</a:t>
            </a:r>
            <a:endParaRPr lang="en-US" sz="1200" dirty="0"/>
          </a:p>
        </p:txBody>
      </p:sp>
      <p:sp>
        <p:nvSpPr>
          <p:cNvPr id="36" name="Text 34"/>
          <p:cNvSpPr txBox="1"/>
          <p:nvPr/>
        </p:nvSpPr>
        <p:spPr>
          <a:xfrm>
            <a:off x="8257032" y="3291840"/>
            <a:ext cx="3273552" cy="73152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Application Data Gate (Django + Deconstructed Clean Yes/No)</a:t>
            </a:r>
            <a:endParaRPr lang="en-US" sz="1200" dirty="0"/>
          </a:p>
        </p:txBody>
      </p:sp>
      <p:sp>
        <p:nvSpPr>
          <p:cNvPr id="37" name="Shape 35"/>
          <p:cNvSpPr/>
          <p:nvPr/>
        </p:nvSpPr>
        <p:spPr>
          <a:xfrm>
            <a:off x="8074152" y="4251960"/>
            <a:ext cx="3639312" cy="1234440"/>
          </a:xfrm>
          <a:prstGeom prst="roundRect">
            <a:avLst>
              <a:gd name="adj" fmla="val 5926"/>
            </a:avLst>
          </a:prstGeom>
          <a:solidFill>
            <a:srgbClr val="16283D"/>
          </a:solidFill>
          <a:ln w="9525">
            <a:solidFill>
              <a:srgbClr val="24405F"/>
            </a:solidFill>
            <a:prstDash val="solid"/>
          </a:ln>
        </p:spPr>
      </p:sp>
      <p:sp>
        <p:nvSpPr>
          <p:cNvPr id="38" name="Text 36"/>
          <p:cNvSpPr txBox="1"/>
          <p:nvPr/>
        </p:nvSpPr>
        <p:spPr>
          <a:xfrm>
            <a:off x="8257032" y="4361688"/>
            <a:ext cx="3273552" cy="274320"/>
          </a:xfrm>
          <a:prstGeom prst="rect">
            <a:avLst/>
          </a:prstGeom>
          <a:noFill/>
          <a:ln/>
        </p:spPr>
        <p:txBody>
          <a:bodyPr wrap="square" lIns="0" tIns="0" rIns="0" bIns="0" rtlCol="0" anchor="ctr"/>
          <a:lstStyle/>
          <a:p>
            <a:pPr algn="l" indent="0" marL="0">
              <a:buNone/>
            </a:pPr>
            <a:r>
              <a:rPr lang="en-US" sz="1200" b="1" dirty="0">
                <a:solidFill>
                  <a:srgbClr val="00AEEF"/>
                </a:solidFill>
                <a:latin typeface="Calibri" pitchFamily="34" charset="0"/>
                <a:ea typeface="Calibri" pitchFamily="34" charset="-122"/>
                <a:cs typeface="Calibri" pitchFamily="34" charset="-120"/>
              </a:rPr>
              <a:t>Boundary 3</a:t>
            </a:r>
            <a:endParaRPr lang="en-US" sz="1200" dirty="0"/>
          </a:p>
        </p:txBody>
      </p:sp>
      <p:sp>
        <p:nvSpPr>
          <p:cNvPr id="39" name="Text 37"/>
          <p:cNvSpPr txBox="1"/>
          <p:nvPr/>
        </p:nvSpPr>
        <p:spPr>
          <a:xfrm>
            <a:off x="8257032" y="4663440"/>
            <a:ext cx="3273552" cy="73152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Infrastructure and Identity Gate (Terraform)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Task 1 — Terraform Infrastructure as Code: D0 Raw Landing (Google Cloud Storage)</a:t>
            </a:r>
            <a:endParaRPr lang="en-US" sz="2500" dirty="0"/>
          </a:p>
        </p:txBody>
      </p:sp>
      <p:sp>
        <p:nvSpPr>
          <p:cNvPr id="6" name="Shape 4"/>
          <p:cNvSpPr/>
          <p:nvPr/>
        </p:nvSpPr>
        <p:spPr>
          <a:xfrm>
            <a:off x="457200" y="1097280"/>
            <a:ext cx="5212080" cy="4206240"/>
          </a:xfrm>
          <a:prstGeom prst="roundRect">
            <a:avLst>
              <a:gd name="adj" fmla="val 1739"/>
            </a:avLst>
          </a:prstGeom>
          <a:solidFill>
            <a:srgbClr val="16283D"/>
          </a:solidFill>
          <a:ln w="9525">
            <a:solidFill>
              <a:srgbClr val="24405F"/>
            </a:solidFill>
            <a:prstDash val="solid"/>
          </a:ln>
        </p:spPr>
      </p:sp>
      <p:sp>
        <p:nvSpPr>
          <p:cNvPr id="7" name="Text 5"/>
          <p:cNvSpPr txBox="1"/>
          <p:nvPr/>
        </p:nvSpPr>
        <p:spPr>
          <a:xfrm>
            <a:off x="685800" y="1234440"/>
            <a:ext cx="4754880" cy="320040"/>
          </a:xfrm>
          <a:prstGeom prst="rect">
            <a:avLst/>
          </a:prstGeom>
          <a:noFill/>
          <a:ln/>
        </p:spPr>
        <p:txBody>
          <a:bodyPr wrap="square" lIns="0" tIns="0" rIns="0" bIns="0" rtlCol="0" anchor="ctr"/>
          <a:lstStyle/>
          <a:p>
            <a:pPr algn="l" indent="0" marL="0">
              <a:buNone/>
            </a:pPr>
            <a:r>
              <a:rPr lang="en-US" sz="1400" b="1" dirty="0">
                <a:solidFill>
                  <a:srgbClr val="00AEEF"/>
                </a:solidFill>
                <a:latin typeface="Calibri" pitchFamily="34" charset="0"/>
                <a:ea typeface="Calibri" pitchFamily="34" charset="-122"/>
                <a:cs typeface="Calibri" pitchFamily="34" charset="-120"/>
              </a:rPr>
              <a:t>Architecture</a:t>
            </a:r>
            <a:endParaRPr lang="en-US" sz="1400" dirty="0"/>
          </a:p>
        </p:txBody>
      </p:sp>
      <p:sp>
        <p:nvSpPr>
          <p:cNvPr id="8" name="Text 6"/>
          <p:cNvSpPr txBox="1"/>
          <p:nvPr/>
        </p:nvSpPr>
        <p:spPr>
          <a:xfrm>
            <a:off x="685800" y="1600200"/>
            <a:ext cx="4754880" cy="3566160"/>
          </a:xfrm>
          <a:prstGeom prst="rect">
            <a:avLst/>
          </a:prstGeom>
          <a:noFill/>
          <a:ln/>
        </p:spPr>
        <p:txBody>
          <a:bodyPr wrap="square" lIns="50800" tIns="50800" rIns="50800" bIns="50800" rtlCol="0" anchor="t"/>
          <a:lstStyle/>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Bucket: habot-connect-devops-d0-raw-landing (Region: asia-south1)</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Uniform bucket-level access enabled</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Public access prevention enforced</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Object versioning enabled (prevents data loss from accidental deletes)</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Lifecycle rule: move objects to Nearline storage after 30 days</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Google-managed encryption at rest</a:t>
            </a:r>
            <a:endParaRPr lang="en-US" sz="1250" dirty="0"/>
          </a:p>
        </p:txBody>
      </p:sp>
      <p:sp>
        <p:nvSpPr>
          <p:cNvPr id="9" name="Shape 7"/>
          <p:cNvSpPr/>
          <p:nvPr/>
        </p:nvSpPr>
        <p:spPr>
          <a:xfrm>
            <a:off x="5852160" y="1097280"/>
            <a:ext cx="5852160" cy="4206240"/>
          </a:xfrm>
          <a:prstGeom prst="roundRect">
            <a:avLst>
              <a:gd name="adj" fmla="val 1304"/>
            </a:avLst>
          </a:prstGeom>
          <a:solidFill>
            <a:srgbClr val="081119"/>
          </a:solidFill>
          <a:ln w="9525">
            <a:solidFill>
              <a:srgbClr val="1E3A57"/>
            </a:solidFill>
            <a:prstDash val="solid"/>
          </a:ln>
        </p:spPr>
      </p:sp>
      <p:sp>
        <p:nvSpPr>
          <p:cNvPr id="10" name="Text 8"/>
          <p:cNvSpPr txBox="1"/>
          <p:nvPr/>
        </p:nvSpPr>
        <p:spPr>
          <a:xfrm>
            <a:off x="6016752" y="1207008"/>
            <a:ext cx="5522976" cy="3986784"/>
          </a:xfrm>
          <a:prstGeom prst="rect">
            <a:avLst/>
          </a:prstGeom>
          <a:noFill/>
          <a:ln/>
        </p:spPr>
        <p:txBody>
          <a:bodyPr wrap="square" lIns="0" tIns="0" rIns="0" bIns="0" rtlCol="0" anchor="t"/>
          <a:lstStyle/>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resource "google_storage_bucket" "d0_raw_landing" {</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  name                        = var.raw_bucket_name</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  location                    = var.region</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  uniform_bucket_level_access = true</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  public_access_prevention    = "enforced"</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  versioning { enabled = true }</a:t>
            </a:r>
            <a:endParaRPr lang="en-US" sz="1150" dirty="0"/>
          </a:p>
          <a:p>
            <a:pPr algn="l" indent="0" marL="0">
              <a:lnSpc>
                <a:spcPct val="115000"/>
              </a:lnSpc>
              <a:buNone/>
            </a:pP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  lifecycle_rule {</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    action { type = "SetStorageClass"</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              storage_class = "NEARLINE" }</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    condition { age = 30 }</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  }</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a:t>
            </a:r>
            <a:endParaRPr lang="en-US" sz="1150" dirty="0"/>
          </a:p>
        </p:txBody>
      </p:sp>
      <p:sp>
        <p:nvSpPr>
          <p:cNvPr id="11" name="Shape 9"/>
          <p:cNvSpPr/>
          <p:nvPr/>
        </p:nvSpPr>
        <p:spPr>
          <a:xfrm>
            <a:off x="457200" y="5486400"/>
            <a:ext cx="11274552" cy="621792"/>
          </a:xfrm>
          <a:prstGeom prst="roundRect">
            <a:avLst>
              <a:gd name="adj" fmla="val 11765"/>
            </a:avLst>
          </a:prstGeom>
          <a:solidFill>
            <a:srgbClr val="0C3A24"/>
          </a:solidFill>
          <a:ln w="12700">
            <a:solidFill>
              <a:srgbClr val="00C853"/>
            </a:solidFill>
            <a:prstDash val="solid"/>
          </a:ln>
        </p:spPr>
      </p:sp>
      <p:sp>
        <p:nvSpPr>
          <p:cNvPr id="12" name="Text 10"/>
          <p:cNvSpPr txBox="1"/>
          <p:nvPr/>
        </p:nvSpPr>
        <p:spPr>
          <a:xfrm>
            <a:off x="731520" y="5486400"/>
            <a:ext cx="10725912" cy="621792"/>
          </a:xfrm>
          <a:prstGeom prst="rect">
            <a:avLst/>
          </a:prstGeom>
          <a:noFill/>
          <a:ln/>
        </p:spPr>
        <p:txBody>
          <a:bodyPr wrap="square" lIns="0" tIns="0" rIns="0" bIns="0" rtlCol="0" anchor="ctr"/>
          <a:lstStyle/>
          <a:p>
            <a:pPr algn="ctr" indent="0" marL="0">
              <a:buNone/>
            </a:pPr>
            <a:r>
              <a:rPr lang="en-US" sz="1400" b="1" i="1" dirty="0">
                <a:solidFill>
                  <a:srgbClr val="6FF3B0"/>
                </a:solidFill>
                <a:latin typeface="Calibri" pitchFamily="34" charset="0"/>
                <a:ea typeface="Calibri" pitchFamily="34" charset="-122"/>
                <a:cs typeface="Calibri" pitchFamily="34" charset="-120"/>
              </a:rPr>
              <a:t>Terraform manages all configuration. Zero manual clicks required.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Task 1 — Terraform Infrastructure as Code: D1 Staged/Enforced (Google Cloud BigQuery and Identity and Access Management)</a:t>
            </a:r>
            <a:endParaRPr lang="en-US" sz="2500" dirty="0"/>
          </a:p>
        </p:txBody>
      </p:sp>
      <p:sp>
        <p:nvSpPr>
          <p:cNvPr id="6" name="Text 4"/>
          <p:cNvSpPr txBox="1"/>
          <p:nvPr/>
        </p:nvSpPr>
        <p:spPr>
          <a:xfrm>
            <a:off x="457200" y="1097280"/>
            <a:ext cx="6675120" cy="320040"/>
          </a:xfrm>
          <a:prstGeom prst="rect">
            <a:avLst/>
          </a:prstGeom>
          <a:noFill/>
          <a:ln/>
        </p:spPr>
        <p:txBody>
          <a:bodyPr wrap="square" lIns="0" tIns="0" rIns="0" bIns="0" rtlCol="0" anchor="ctr"/>
          <a:lstStyle/>
          <a:p>
            <a:pPr indent="0" marL="0">
              <a:buNone/>
            </a:pPr>
            <a:r>
              <a:rPr lang="en-US" sz="1400" b="1" dirty="0">
                <a:solidFill>
                  <a:srgbClr val="00AEEF"/>
                </a:solidFill>
                <a:latin typeface="Calibri" pitchFamily="34" charset="0"/>
                <a:ea typeface="Calibri" pitchFamily="34" charset="-122"/>
                <a:cs typeface="Calibri" pitchFamily="34" charset="-120"/>
              </a:rPr>
              <a:t>Service Accounts (Least Privilege)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6675120" cy="914400"/>
        </p:xfrm>
        <a:graphic>
          <a:graphicData uri="http://schemas.openxmlformats.org/drawingml/2006/table">
            <a:tbl>
              <a:tblPr/>
              <a:tblGrid>
                <a:gridCol w="1828800"/>
                <a:gridCol w="2286000"/>
                <a:gridCol w="2560320"/>
              </a:tblGrid>
              <a:tr h="566928">
                <a:tc>
                  <a:txBody>
                    <a:bodyPr/>
                    <a:lstStyle/>
                    <a:p>
                      <a:pPr indent="0" marL="0">
                        <a:buNone/>
                      </a:pPr>
                      <a:r>
                        <a:rPr lang="en-US" sz="1050" b="1" dirty="0">
                          <a:solidFill>
                            <a:srgbClr val="FFFFFF"/>
                          </a:solidFill>
                        </a:rPr>
                        <a:t>Service Account</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C3350"/>
                    </a:solidFill>
                  </a:tcPr>
                </a:tc>
                <a:tc>
                  <a:txBody>
                    <a:bodyPr/>
                    <a:lstStyle/>
                    <a:p>
                      <a:pPr indent="0" marL="0">
                        <a:buNone/>
                      </a:pPr>
                      <a:r>
                        <a:rPr lang="en-US" sz="1050" b="1" dirty="0">
                          <a:solidFill>
                            <a:srgbClr val="FFFFFF"/>
                          </a:solidFill>
                        </a:rPr>
                        <a:t>Role Granted</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C3350"/>
                    </a:solidFill>
                  </a:tcPr>
                </a:tc>
                <a:tc>
                  <a:txBody>
                    <a:bodyPr/>
                    <a:lstStyle/>
                    <a:p>
                      <a:pPr indent="0" marL="0">
                        <a:buNone/>
                      </a:pPr>
                      <a:r>
                        <a:rPr lang="en-US" sz="1050" b="1" dirty="0">
                          <a:solidFill>
                            <a:srgbClr val="FFFFFF"/>
                          </a:solidFill>
                        </a:rPr>
                        <a:t>Purpose</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C3350"/>
                    </a:solidFill>
                  </a:tcPr>
                </a:tc>
              </a:tr>
              <a:tr h="56692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habot-ingestion</a:t>
                      </a:r>
                      <a:endParaRPr lang="en-US" sz="100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00" dirty="0">
                          <a:solidFill>
                            <a:srgbClr val="9FE7FF"/>
                          </a:solidFill>
                          <a:latin typeface="Courier New" pitchFamily="34" charset="0"/>
                          <a:ea typeface="Courier New" pitchFamily="34" charset="-122"/>
                          <a:cs typeface="Courier New" pitchFamily="34" charset="-120"/>
                        </a:rPr>
                        <a:t>roles/storage.objectCreator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Write raw data to D0 bucket only</a:t>
                      </a:r>
                      <a:endParaRPr lang="en-US" sz="100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56692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habot-analytics</a:t>
                      </a:r>
                      <a:endParaRPr lang="en-US" sz="100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00" dirty="0">
                          <a:solidFill>
                            <a:srgbClr val="9FE7FF"/>
                          </a:solidFill>
                          <a:latin typeface="Courier New" pitchFamily="34" charset="0"/>
                          <a:ea typeface="Courier New" pitchFamily="34" charset="-122"/>
                          <a:cs typeface="Courier New" pitchFamily="34" charset="-120"/>
                        </a:rPr>
                        <a:t>roles/bigquery.dataViewer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Read analytics data from D1 only</a:t>
                      </a:r>
                      <a:endParaRPr lang="en-US" sz="100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56692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habot-backend</a:t>
                      </a:r>
                      <a:endParaRPr lang="en-US" sz="100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00" dirty="0">
                          <a:solidFill>
                            <a:srgbClr val="9FE7FF"/>
                          </a:solidFill>
                          <a:latin typeface="Courier New" pitchFamily="34" charset="0"/>
                          <a:ea typeface="Courier New" pitchFamily="34" charset="-122"/>
                          <a:cs typeface="Courier New" pitchFamily="34" charset="-120"/>
                        </a:rPr>
                        <a:t>Publisher on Pub/Sub topic</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Publish validated onboarding events</a:t>
                      </a:r>
                      <a:endParaRPr lang="en-US" sz="100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56692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Pub/Sub Service Agent</a:t>
                      </a:r>
                      <a:endParaRPr lang="en-US" sz="100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00" dirty="0">
                          <a:solidFill>
                            <a:srgbClr val="9FE7FF"/>
                          </a:solidFill>
                          <a:latin typeface="Courier New" pitchFamily="34" charset="0"/>
                          <a:ea typeface="Courier New" pitchFamily="34" charset="-122"/>
                          <a:cs typeface="Courier New" pitchFamily="34" charset="-120"/>
                        </a:rPr>
                        <a:t>roles/bigquery.dataEditor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Stream messages from Pub/Sub into BigQuery D1</a:t>
                      </a:r>
                      <a:endParaRPr lang="en-US" sz="100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bl>
          </a:graphicData>
        </a:graphic>
      </p:graphicFrame>
      <p:sp>
        <p:nvSpPr>
          <p:cNvPr id="8" name="Text 5"/>
          <p:cNvSpPr txBox="1"/>
          <p:nvPr/>
        </p:nvSpPr>
        <p:spPr>
          <a:xfrm>
            <a:off x="7452360" y="1097280"/>
            <a:ext cx="4279392" cy="320040"/>
          </a:xfrm>
          <a:prstGeom prst="rect">
            <a:avLst/>
          </a:prstGeom>
          <a:noFill/>
          <a:ln/>
        </p:spPr>
        <p:txBody>
          <a:bodyPr wrap="square" lIns="0" tIns="0" rIns="0" bIns="0" rtlCol="0" anchor="ctr"/>
          <a:lstStyle/>
          <a:p>
            <a:pPr indent="0" marL="0">
              <a:buNone/>
            </a:pPr>
            <a:r>
              <a:rPr lang="en-US" sz="1400" b="1" dirty="0">
                <a:solidFill>
                  <a:srgbClr val="00AEEF"/>
                </a:solidFill>
                <a:latin typeface="Calibri" pitchFamily="34" charset="0"/>
                <a:ea typeface="Calibri" pitchFamily="34" charset="-122"/>
                <a:cs typeface="Calibri" pitchFamily="34" charset="-120"/>
              </a:rPr>
              <a:t>BigQuery Table Schema</a:t>
            </a:r>
            <a:endParaRPr lang="en-US" sz="1400" dirty="0"/>
          </a:p>
        </p:txBody>
      </p:sp>
      <p:sp>
        <p:nvSpPr>
          <p:cNvPr id="9" name="Shape 6"/>
          <p:cNvSpPr/>
          <p:nvPr/>
        </p:nvSpPr>
        <p:spPr>
          <a:xfrm>
            <a:off x="7452360" y="1481328"/>
            <a:ext cx="4279392" cy="2651760"/>
          </a:xfrm>
          <a:prstGeom prst="roundRect">
            <a:avLst>
              <a:gd name="adj" fmla="val 2069"/>
            </a:avLst>
          </a:prstGeom>
          <a:solidFill>
            <a:srgbClr val="081119"/>
          </a:solidFill>
          <a:ln w="9525">
            <a:solidFill>
              <a:srgbClr val="1E3A57"/>
            </a:solidFill>
            <a:prstDash val="solid"/>
          </a:ln>
        </p:spPr>
      </p:sp>
      <p:sp>
        <p:nvSpPr>
          <p:cNvPr id="10" name="Text 7"/>
          <p:cNvSpPr txBox="1"/>
          <p:nvPr/>
        </p:nvSpPr>
        <p:spPr>
          <a:xfrm>
            <a:off x="7616952" y="1591056"/>
            <a:ext cx="3950208" cy="2432304"/>
          </a:xfrm>
          <a:prstGeom prst="rect">
            <a:avLst/>
          </a:prstGeom>
          <a:noFill/>
          <a:ln/>
        </p:spPr>
        <p:txBody>
          <a:bodyPr wrap="square" lIns="0" tIns="0" rIns="0" bIns="0" rtlCol="0" anchor="t"/>
          <a:lstStyle/>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student_id      STRING     REQUIRED</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full_name       STRING     REQUIRED</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email           STRING     REQUIRED</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owner_email     STRING     REQUIRED</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course          STRING     REQUIRED</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status          STRING     REQUIRED</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created_at      TIMESTAMP  REQUIRED</a:t>
            </a:r>
            <a:endParaRPr lang="en-US" sz="1150" dirty="0"/>
          </a:p>
          <a:p>
            <a:pPr algn="l" indent="0" marL="0">
              <a:lnSpc>
                <a:spcPct val="115000"/>
              </a:lnSpc>
              <a:buNone/>
            </a:pPr>
            <a:r>
              <a:rPr lang="en-US" sz="1150" dirty="0">
                <a:solidFill>
                  <a:srgbClr val="DCEEFB"/>
                </a:solidFill>
                <a:latin typeface="Courier New" pitchFamily="34" charset="0"/>
                <a:ea typeface="Courier New" pitchFamily="34" charset="-122"/>
                <a:cs typeface="Courier New" pitchFamily="34" charset="-120"/>
              </a:rPr>
              <a:t>schema_version  STRING     NULLABLE</a:t>
            </a:r>
            <a:endParaRPr lang="en-US" sz="1150" dirty="0"/>
          </a:p>
        </p:txBody>
      </p:sp>
      <p:sp>
        <p:nvSpPr>
          <p:cNvPr id="11" name="Shape 8"/>
          <p:cNvSpPr/>
          <p:nvPr/>
        </p:nvSpPr>
        <p:spPr>
          <a:xfrm>
            <a:off x="457200" y="5440680"/>
            <a:ext cx="11274552" cy="685800"/>
          </a:xfrm>
          <a:prstGeom prst="roundRect">
            <a:avLst>
              <a:gd name="adj" fmla="val 10667"/>
            </a:avLst>
          </a:prstGeom>
          <a:solidFill>
            <a:srgbClr val="0B2E45"/>
          </a:solidFill>
          <a:ln w="12700">
            <a:solidFill>
              <a:srgbClr val="00AEEF"/>
            </a:solidFill>
            <a:prstDash val="solid"/>
          </a:ln>
        </p:spPr>
      </p:sp>
      <p:sp>
        <p:nvSpPr>
          <p:cNvPr id="12" name="Text 9"/>
          <p:cNvSpPr txBox="1"/>
          <p:nvPr/>
        </p:nvSpPr>
        <p:spPr>
          <a:xfrm>
            <a:off x="731520" y="5440680"/>
            <a:ext cx="10725912" cy="685800"/>
          </a:xfrm>
          <a:prstGeom prst="rect">
            <a:avLst/>
          </a:prstGeom>
          <a:noFill/>
          <a:ln/>
        </p:spPr>
        <p:txBody>
          <a:bodyPr wrap="square" lIns="0" tIns="0" rIns="0" bIns="0" rtlCol="0" anchor="ctr"/>
          <a:lstStyle/>
          <a:p>
            <a:pPr algn="ctr" indent="0" marL="0">
              <a:buNone/>
            </a:pPr>
            <a:r>
              <a:rPr lang="en-US" sz="1350" b="1" i="1" dirty="0">
                <a:solidFill>
                  <a:srgbClr val="7FD8FF"/>
                </a:solidFill>
                <a:latin typeface="Calibri" pitchFamily="34" charset="0"/>
                <a:ea typeface="Calibri" pitchFamily="34" charset="-122"/>
                <a:cs typeface="Calibri" pitchFamily="34" charset="-120"/>
              </a:rPr>
              <a:t>Every service account is scoped to a single bucket, table, or topic — no broad project-level roles.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Task 1 — BigQuery Row-Level Security: Student Privacy by Default</a:t>
            </a:r>
            <a:endParaRPr lang="en-US" sz="2500" dirty="0"/>
          </a:p>
        </p:txBody>
      </p:sp>
      <p:sp>
        <p:nvSpPr>
          <p:cNvPr id="6" name="Shape 4"/>
          <p:cNvSpPr/>
          <p:nvPr/>
        </p:nvSpPr>
        <p:spPr>
          <a:xfrm>
            <a:off x="457200" y="1051560"/>
            <a:ext cx="11274552" cy="896112"/>
          </a:xfrm>
          <a:prstGeom prst="roundRect">
            <a:avLst>
              <a:gd name="adj" fmla="val 8163"/>
            </a:avLst>
          </a:prstGeom>
          <a:solidFill>
            <a:srgbClr val="16283D"/>
          </a:solidFill>
          <a:ln w="9525">
            <a:solidFill>
              <a:srgbClr val="24405F"/>
            </a:solidFill>
            <a:prstDash val="solid"/>
          </a:ln>
        </p:spPr>
      </p:sp>
      <p:sp>
        <p:nvSpPr>
          <p:cNvPr id="7" name="Text 5"/>
          <p:cNvSpPr txBox="1"/>
          <p:nvPr/>
        </p:nvSpPr>
        <p:spPr>
          <a:xfrm>
            <a:off x="685800" y="1143000"/>
            <a:ext cx="10817352" cy="731520"/>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The D1 table uses a Google Cloud BigQuery Row-Level Access Policy. Every row in the student_onboarding table is restricted so that only the student's own record is visible when queried. This enforces data privacy at the storage layer — not the application layer.</a:t>
            </a:r>
            <a:endParaRPr lang="en-US" sz="1250" dirty="0"/>
          </a:p>
        </p:txBody>
      </p:sp>
      <p:sp>
        <p:nvSpPr>
          <p:cNvPr id="8" name="Shape 6"/>
          <p:cNvSpPr/>
          <p:nvPr/>
        </p:nvSpPr>
        <p:spPr>
          <a:xfrm>
            <a:off x="457200" y="2148840"/>
            <a:ext cx="5212080" cy="3977640"/>
          </a:xfrm>
          <a:prstGeom prst="roundRect">
            <a:avLst>
              <a:gd name="adj" fmla="val 1839"/>
            </a:avLst>
          </a:prstGeom>
          <a:solidFill>
            <a:srgbClr val="16283D"/>
          </a:solidFill>
          <a:ln w="9525">
            <a:solidFill>
              <a:srgbClr val="24405F"/>
            </a:solidFill>
            <a:prstDash val="solid"/>
          </a:ln>
        </p:spPr>
      </p:sp>
      <p:sp>
        <p:nvSpPr>
          <p:cNvPr id="9" name="Text 7"/>
          <p:cNvSpPr txBox="1"/>
          <p:nvPr/>
        </p:nvSpPr>
        <p:spPr>
          <a:xfrm>
            <a:off x="685800" y="2286000"/>
            <a:ext cx="4754880" cy="320040"/>
          </a:xfrm>
          <a:prstGeom prst="rect">
            <a:avLst/>
          </a:prstGeom>
          <a:noFill/>
          <a:ln/>
        </p:spPr>
        <p:txBody>
          <a:bodyPr wrap="square" lIns="0" tIns="0" rIns="0" bIns="0" rtlCol="0" anchor="ctr"/>
          <a:lstStyle/>
          <a:p>
            <a:pPr indent="0" marL="0">
              <a:buNone/>
            </a:pPr>
            <a:r>
              <a:rPr lang="en-US" sz="1300" b="1" dirty="0">
                <a:solidFill>
                  <a:srgbClr val="00AEEF"/>
                </a:solidFill>
                <a:latin typeface="Calibri" pitchFamily="34" charset="0"/>
                <a:ea typeface="Calibri" pitchFamily="34" charset="-122"/>
                <a:cs typeface="Calibri" pitchFamily="34" charset="-120"/>
              </a:rPr>
              <a:t>Policy Logic</a:t>
            </a:r>
            <a:endParaRPr lang="en-US" sz="1300" dirty="0"/>
          </a:p>
        </p:txBody>
      </p:sp>
      <p:sp>
        <p:nvSpPr>
          <p:cNvPr id="10" name="Shape 8"/>
          <p:cNvSpPr/>
          <p:nvPr/>
        </p:nvSpPr>
        <p:spPr>
          <a:xfrm>
            <a:off x="777240" y="2697480"/>
            <a:ext cx="4572000" cy="658368"/>
          </a:xfrm>
          <a:prstGeom prst="roundRect">
            <a:avLst>
              <a:gd name="adj" fmla="val 8333"/>
            </a:avLst>
          </a:prstGeom>
          <a:solidFill>
            <a:srgbClr val="1C3350"/>
          </a:solidFill>
          <a:ln w="9525">
            <a:solidFill>
              <a:srgbClr val="2E4E70"/>
            </a:solidFill>
            <a:prstDash val="solid"/>
          </a:ln>
        </p:spPr>
      </p:sp>
      <p:sp>
        <p:nvSpPr>
          <p:cNvPr id="11" name="Text 9"/>
          <p:cNvSpPr txBox="1"/>
          <p:nvPr/>
        </p:nvSpPr>
        <p:spPr>
          <a:xfrm>
            <a:off x="914400" y="2697480"/>
            <a:ext cx="4297680" cy="658368"/>
          </a:xfrm>
          <a:prstGeom prst="rect">
            <a:avLst/>
          </a:prstGeom>
          <a:noFill/>
          <a:ln/>
        </p:spPr>
        <p:txBody>
          <a:bodyPr wrap="square" lIns="25400" tIns="25400" rIns="25400" bIns="25400" rtlCol="0" anchor="ctr"/>
          <a:lstStyle/>
          <a:p>
            <a:pPr algn="l" indent="0" marL="0">
              <a:lnSpc>
                <a:spcPct val="105000"/>
              </a:lnSpc>
              <a:buNone/>
            </a:pPr>
            <a:r>
              <a:rPr lang="en-US" sz="1050" dirty="0">
                <a:solidFill>
                  <a:srgbClr val="FFFFFF"/>
                </a:solidFill>
                <a:latin typeface="Courier New" pitchFamily="34" charset="0"/>
                <a:ea typeface="Courier New" pitchFamily="34" charset="-122"/>
                <a:cs typeface="Courier New" pitchFamily="34" charset="-120"/>
              </a:rPr>
              <a:t>Analyst runs:</a:t>
            </a:r>
            <a:endParaRPr lang="en-US" sz="1050" dirty="0"/>
          </a:p>
          <a:p>
            <a:pPr algn="l" indent="0" marL="0">
              <a:lnSpc>
                <a:spcPct val="105000"/>
              </a:lnSpc>
              <a:buNone/>
            </a:pPr>
            <a:r>
              <a:rPr lang="en-US" sz="1050" dirty="0">
                <a:solidFill>
                  <a:srgbClr val="FFFFFF"/>
                </a:solidFill>
                <a:latin typeface="Courier New" pitchFamily="34" charset="0"/>
                <a:ea typeface="Courier New" pitchFamily="34" charset="-122"/>
                <a:cs typeface="Courier New" pitchFamily="34" charset="-120"/>
              </a:rPr>
              <a:t>SELECT * FROM student_onboarding</a:t>
            </a:r>
            <a:endParaRPr lang="en-US" sz="1050" dirty="0"/>
          </a:p>
        </p:txBody>
      </p:sp>
      <p:sp>
        <p:nvSpPr>
          <p:cNvPr id="12" name="Shape 10"/>
          <p:cNvSpPr/>
          <p:nvPr/>
        </p:nvSpPr>
        <p:spPr>
          <a:xfrm>
            <a:off x="2926080" y="3355848"/>
            <a:ext cx="274320" cy="182880"/>
          </a:xfrm>
          <a:prstGeom prst="downArrow">
            <a:avLst/>
          </a:prstGeom>
          <a:solidFill>
            <a:srgbClr val="00AEEF"/>
          </a:solidFill>
          <a:ln/>
        </p:spPr>
      </p:sp>
      <p:sp>
        <p:nvSpPr>
          <p:cNvPr id="13" name="Shape 11"/>
          <p:cNvSpPr/>
          <p:nvPr/>
        </p:nvSpPr>
        <p:spPr>
          <a:xfrm>
            <a:off x="777240" y="3611880"/>
            <a:ext cx="4572000" cy="658368"/>
          </a:xfrm>
          <a:prstGeom prst="roundRect">
            <a:avLst>
              <a:gd name="adj" fmla="val 8333"/>
            </a:avLst>
          </a:prstGeom>
          <a:solidFill>
            <a:srgbClr val="1C3350"/>
          </a:solidFill>
          <a:ln w="9525">
            <a:solidFill>
              <a:srgbClr val="2E4E70"/>
            </a:solidFill>
            <a:prstDash val="solid"/>
          </a:ln>
        </p:spPr>
      </p:sp>
      <p:sp>
        <p:nvSpPr>
          <p:cNvPr id="14" name="Text 12"/>
          <p:cNvSpPr txBox="1"/>
          <p:nvPr/>
        </p:nvSpPr>
        <p:spPr>
          <a:xfrm>
            <a:off x="914400" y="3611880"/>
            <a:ext cx="4297680" cy="658368"/>
          </a:xfrm>
          <a:prstGeom prst="rect">
            <a:avLst/>
          </a:prstGeom>
          <a:noFill/>
          <a:ln/>
        </p:spPr>
        <p:txBody>
          <a:bodyPr wrap="square" lIns="25400" tIns="25400" rIns="25400" bIns="25400" rtlCol="0" anchor="ctr"/>
          <a:lstStyle/>
          <a:p>
            <a:pPr algn="l" indent="0" marL="0">
              <a:lnSpc>
                <a:spcPct val="105000"/>
              </a:lnSpc>
              <a:buNone/>
            </a:pPr>
            <a:r>
              <a:rPr lang="en-US" sz="1050" dirty="0">
                <a:solidFill>
                  <a:srgbClr val="FFFFFF"/>
                </a:solidFill>
                <a:latin typeface="Courier New" pitchFamily="34" charset="0"/>
                <a:ea typeface="Courier New" pitchFamily="34" charset="-122"/>
                <a:cs typeface="Courier New" pitchFamily="34" charset="-120"/>
              </a:rPr>
              <a:t>BigQuery evaluates:</a:t>
            </a:r>
            <a:endParaRPr lang="en-US" sz="1050" dirty="0"/>
          </a:p>
          <a:p>
            <a:pPr algn="l" indent="0" marL="0">
              <a:lnSpc>
                <a:spcPct val="105000"/>
              </a:lnSpc>
              <a:buNone/>
            </a:pPr>
            <a:r>
              <a:rPr lang="en-US" sz="1050" dirty="0">
                <a:solidFill>
                  <a:srgbClr val="FFFFFF"/>
                </a:solidFill>
                <a:latin typeface="Courier New" pitchFamily="34" charset="0"/>
                <a:ea typeface="Courier New" pitchFamily="34" charset="-122"/>
                <a:cs typeface="Courier New" pitchFamily="34" charset="-120"/>
              </a:rPr>
              <a:t>owner_email = SESSION_USER()</a:t>
            </a:r>
            <a:endParaRPr lang="en-US" sz="1050" dirty="0"/>
          </a:p>
        </p:txBody>
      </p:sp>
      <p:sp>
        <p:nvSpPr>
          <p:cNvPr id="15" name="Shape 13"/>
          <p:cNvSpPr/>
          <p:nvPr/>
        </p:nvSpPr>
        <p:spPr>
          <a:xfrm>
            <a:off x="2926080" y="4270248"/>
            <a:ext cx="274320" cy="182880"/>
          </a:xfrm>
          <a:prstGeom prst="downArrow">
            <a:avLst/>
          </a:prstGeom>
          <a:solidFill>
            <a:srgbClr val="00AEEF"/>
          </a:solidFill>
          <a:ln/>
        </p:spPr>
      </p:sp>
      <p:sp>
        <p:nvSpPr>
          <p:cNvPr id="16" name="Shape 14"/>
          <p:cNvSpPr/>
          <p:nvPr/>
        </p:nvSpPr>
        <p:spPr>
          <a:xfrm>
            <a:off x="777240" y="4526280"/>
            <a:ext cx="4572000" cy="658368"/>
          </a:xfrm>
          <a:prstGeom prst="roundRect">
            <a:avLst>
              <a:gd name="adj" fmla="val 8333"/>
            </a:avLst>
          </a:prstGeom>
          <a:solidFill>
            <a:srgbClr val="1C3350"/>
          </a:solidFill>
          <a:ln w="9525">
            <a:solidFill>
              <a:srgbClr val="2E4E70"/>
            </a:solidFill>
            <a:prstDash val="solid"/>
          </a:ln>
        </p:spPr>
      </p:sp>
      <p:sp>
        <p:nvSpPr>
          <p:cNvPr id="17" name="Text 15"/>
          <p:cNvSpPr txBox="1"/>
          <p:nvPr/>
        </p:nvSpPr>
        <p:spPr>
          <a:xfrm>
            <a:off x="914400" y="4526280"/>
            <a:ext cx="4297680" cy="658368"/>
          </a:xfrm>
          <a:prstGeom prst="rect">
            <a:avLst/>
          </a:prstGeom>
          <a:noFill/>
          <a:ln/>
        </p:spPr>
        <p:txBody>
          <a:bodyPr wrap="square" lIns="25400" tIns="25400" rIns="25400" bIns="25400" rtlCol="0" anchor="ctr"/>
          <a:lstStyle/>
          <a:p>
            <a:pPr algn="l" indent="0" marL="0">
              <a:lnSpc>
                <a:spcPct val="105000"/>
              </a:lnSpc>
              <a:buNone/>
            </a:pPr>
            <a:r>
              <a:rPr lang="en-US" sz="1050" dirty="0">
                <a:solidFill>
                  <a:srgbClr val="FFFFFF"/>
                </a:solidFill>
                <a:latin typeface="Courier New" pitchFamily="34" charset="0"/>
                <a:ea typeface="Courier New" pitchFamily="34" charset="-122"/>
                <a:cs typeface="Courier New" pitchFamily="34" charset="-120"/>
              </a:rPr>
              <a:t>Match Found?</a:t>
            </a:r>
            <a:endParaRPr lang="en-US" sz="1050" dirty="0"/>
          </a:p>
        </p:txBody>
      </p:sp>
      <p:sp>
        <p:nvSpPr>
          <p:cNvPr id="18" name="Text 16"/>
          <p:cNvSpPr txBox="1"/>
          <p:nvPr/>
        </p:nvSpPr>
        <p:spPr>
          <a:xfrm>
            <a:off x="777240" y="5440680"/>
            <a:ext cx="4572000" cy="274320"/>
          </a:xfrm>
          <a:prstGeom prst="rect">
            <a:avLst/>
          </a:prstGeom>
          <a:noFill/>
          <a:ln/>
        </p:spPr>
        <p:txBody>
          <a:bodyPr wrap="square" lIns="0" tIns="0" rIns="0" bIns="0" rtlCol="0" anchor="ctr"/>
          <a:lstStyle/>
          <a:p>
            <a:pPr indent="0" marL="0">
              <a:buNone/>
            </a:pPr>
            <a:r>
              <a:rPr lang="en-US" sz="1150" b="1" dirty="0">
                <a:solidFill>
                  <a:srgbClr val="00C853"/>
                </a:solidFill>
                <a:latin typeface="Calibri" pitchFamily="34" charset="0"/>
                <a:ea typeface="Calibri" pitchFamily="34" charset="-122"/>
                <a:cs typeface="Calibri" pitchFamily="34" charset="-120"/>
              </a:rPr>
              <a:t>YES → </a:t>
            </a:r>
            <a:pPr indent="0" marL="0">
              <a:buNone/>
            </a:pPr>
            <a:r>
              <a:rPr lang="en-US" sz="1150" dirty="0">
                <a:solidFill>
                  <a:srgbClr val="FFFFFF"/>
                </a:solidFill>
                <a:latin typeface="Calibri" pitchFamily="34" charset="0"/>
                <a:ea typeface="Calibri" pitchFamily="34" charset="-122"/>
                <a:cs typeface="Calibri" pitchFamily="34" charset="-120"/>
              </a:rPr>
              <a:t>Row is returned</a:t>
            </a:r>
            <a:endParaRPr lang="en-US" sz="1150" dirty="0"/>
          </a:p>
        </p:txBody>
      </p:sp>
      <p:sp>
        <p:nvSpPr>
          <p:cNvPr id="19" name="Text 17"/>
          <p:cNvSpPr txBox="1"/>
          <p:nvPr/>
        </p:nvSpPr>
        <p:spPr>
          <a:xfrm>
            <a:off x="777240" y="5733288"/>
            <a:ext cx="4572000" cy="274320"/>
          </a:xfrm>
          <a:prstGeom prst="rect">
            <a:avLst/>
          </a:prstGeom>
          <a:noFill/>
          <a:ln/>
        </p:spPr>
        <p:txBody>
          <a:bodyPr wrap="square" lIns="0" tIns="0" rIns="0" bIns="0" rtlCol="0" anchor="ctr"/>
          <a:lstStyle/>
          <a:p>
            <a:pPr indent="0" marL="0">
              <a:buNone/>
            </a:pPr>
            <a:r>
              <a:rPr lang="en-US" sz="1150" b="1" dirty="0">
                <a:solidFill>
                  <a:srgbClr val="FF1744"/>
                </a:solidFill>
                <a:latin typeface="Calibri" pitchFamily="34" charset="0"/>
                <a:ea typeface="Calibri" pitchFamily="34" charset="-122"/>
                <a:cs typeface="Calibri" pitchFamily="34" charset="-120"/>
              </a:rPr>
              <a:t>NO  → </a:t>
            </a:r>
            <a:pPr indent="0" marL="0">
              <a:buNone/>
            </a:pPr>
            <a:r>
              <a:rPr lang="en-US" sz="1150" dirty="0">
                <a:solidFill>
                  <a:srgbClr val="FFFFFF"/>
                </a:solidFill>
                <a:latin typeface="Calibri" pitchFamily="34" charset="0"/>
                <a:ea typeface="Calibri" pitchFamily="34" charset="-122"/>
                <a:cs typeface="Calibri" pitchFamily="34" charset="-120"/>
              </a:rPr>
              <a:t>Row is hidden</a:t>
            </a:r>
            <a:endParaRPr lang="en-US" sz="1150" dirty="0"/>
          </a:p>
        </p:txBody>
      </p:sp>
      <p:sp>
        <p:nvSpPr>
          <p:cNvPr id="20" name="Shape 18"/>
          <p:cNvSpPr/>
          <p:nvPr/>
        </p:nvSpPr>
        <p:spPr>
          <a:xfrm>
            <a:off x="5852160" y="2148840"/>
            <a:ext cx="5852160" cy="1965960"/>
          </a:xfrm>
          <a:prstGeom prst="roundRect">
            <a:avLst>
              <a:gd name="adj" fmla="val 2791"/>
            </a:avLst>
          </a:prstGeom>
          <a:solidFill>
            <a:srgbClr val="081119"/>
          </a:solidFill>
          <a:ln w="9525">
            <a:solidFill>
              <a:srgbClr val="1E3A57"/>
            </a:solidFill>
            <a:prstDash val="solid"/>
          </a:ln>
        </p:spPr>
      </p:sp>
      <p:sp>
        <p:nvSpPr>
          <p:cNvPr id="21" name="Text 19"/>
          <p:cNvSpPr txBox="1"/>
          <p:nvPr/>
        </p:nvSpPr>
        <p:spPr>
          <a:xfrm>
            <a:off x="6016752" y="2258568"/>
            <a:ext cx="5522976" cy="1746504"/>
          </a:xfrm>
          <a:prstGeom prst="rect">
            <a:avLst/>
          </a:prstGeom>
          <a:noFill/>
          <a:ln/>
        </p:spPr>
        <p:txBody>
          <a:bodyPr wrap="square" lIns="0" tIns="0" rIns="0" bIns="0" rtlCol="0" anchor="t"/>
          <a:lstStyle/>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resource "google_bigquery_row_access_policy" "owner_access" {</a:t>
            </a:r>
            <a:endParaRPr lang="en-US" sz="1200" dirty="0"/>
          </a:p>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  policy_id        = "owner_access"</a:t>
            </a:r>
            <a:endParaRPr lang="en-US" sz="1200" dirty="0"/>
          </a:p>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  filter_predicate = "owner_email = SESSION_USER()"</a:t>
            </a:r>
            <a:endParaRPr lang="en-US" sz="1200" dirty="0"/>
          </a:p>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  grantees = [</a:t>
            </a:r>
            <a:endParaRPr lang="en-US" sz="1200" dirty="0"/>
          </a:p>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    "serviceAccount:habot-analytics@..."</a:t>
            </a:r>
            <a:endParaRPr lang="en-US" sz="1200" dirty="0"/>
          </a:p>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  ]</a:t>
            </a:r>
            <a:endParaRPr lang="en-US" sz="1200" dirty="0"/>
          </a:p>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a:t>
            </a:r>
            <a:endParaRPr lang="en-US" sz="1200" dirty="0"/>
          </a:p>
        </p:txBody>
      </p:sp>
      <p:sp>
        <p:nvSpPr>
          <p:cNvPr id="22" name="Shape 20"/>
          <p:cNvSpPr/>
          <p:nvPr/>
        </p:nvSpPr>
        <p:spPr>
          <a:xfrm>
            <a:off x="5852160" y="4343400"/>
            <a:ext cx="5852160" cy="1371600"/>
          </a:xfrm>
          <a:prstGeom prst="roundRect">
            <a:avLst>
              <a:gd name="adj" fmla="val 5333"/>
            </a:avLst>
          </a:prstGeom>
          <a:solidFill>
            <a:srgbClr val="0B2E45"/>
          </a:solidFill>
          <a:ln w="12700">
            <a:solidFill>
              <a:srgbClr val="00AEEF"/>
            </a:solidFill>
            <a:prstDash val="solid"/>
          </a:ln>
        </p:spPr>
      </p:sp>
      <p:sp>
        <p:nvSpPr>
          <p:cNvPr id="23" name="Text 21"/>
          <p:cNvSpPr txBox="1"/>
          <p:nvPr/>
        </p:nvSpPr>
        <p:spPr>
          <a:xfrm>
            <a:off x="6126480" y="4343400"/>
            <a:ext cx="5303520" cy="1371600"/>
          </a:xfrm>
          <a:prstGeom prst="rect">
            <a:avLst/>
          </a:prstGeom>
          <a:noFill/>
          <a:ln/>
        </p:spPr>
        <p:txBody>
          <a:bodyPr wrap="square" lIns="0" tIns="0" rIns="0" bIns="0" rtlCol="0" anchor="ctr"/>
          <a:lstStyle/>
          <a:p>
            <a:pPr algn="ctr" indent="0" marL="0">
              <a:buNone/>
            </a:pPr>
            <a:r>
              <a:rPr lang="en-US" sz="1250" b="1" i="1" dirty="0">
                <a:solidFill>
                  <a:srgbClr val="7FD8FF"/>
                </a:solidFill>
                <a:latin typeface="Calibri" pitchFamily="34" charset="0"/>
                <a:ea typeface="Calibri" pitchFamily="34" charset="-122"/>
                <a:cs typeface="Calibri" pitchFamily="34" charset="-120"/>
              </a:rPr>
              <a:t>Even a BigQuery administrator running a full table scan sees only rows where owner_email matches their authenticated Google identity.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Task 2 — Poka-Yoke: Making the Wrong Action Structurally Impossible</a:t>
            </a:r>
            <a:endParaRPr lang="en-US" sz="2500" dirty="0"/>
          </a:p>
        </p:txBody>
      </p:sp>
      <p:sp>
        <p:nvSpPr>
          <p:cNvPr id="6" name="Text 4"/>
          <p:cNvSpPr txBox="1"/>
          <p:nvPr/>
        </p:nvSpPr>
        <p:spPr>
          <a:xfrm>
            <a:off x="914400" y="1097280"/>
            <a:ext cx="10360152" cy="868680"/>
          </a:xfrm>
          <a:prstGeom prst="rect">
            <a:avLst/>
          </a:prstGeom>
          <a:noFill/>
          <a:ln/>
        </p:spPr>
        <p:txBody>
          <a:bodyPr wrap="square" lIns="0" tIns="0" rIns="0" bIns="0" rtlCol="0" anchor="ctr"/>
          <a:lstStyle/>
          <a:p>
            <a:pPr algn="ctr" indent="0" marL="0">
              <a:buNone/>
            </a:pPr>
            <a:r>
              <a:rPr lang="en-US" sz="1700" b="1" i="1" dirty="0">
                <a:solidFill>
                  <a:srgbClr val="00AEEF"/>
                </a:solidFill>
                <a:latin typeface="Calibri" pitchFamily="34" charset="0"/>
                <a:ea typeface="Calibri" pitchFamily="34" charset="-122"/>
                <a:cs typeface="Calibri" pitchFamily="34" charset="-120"/>
              </a:rPr>
              <a:t>“The purpose of the pipeline is not to alert when something goes wrong. The purpose is to make it structurally impossible for the wrong thing to continue.”</a:t>
            </a:r>
            <a:endParaRPr lang="en-US" sz="1700" dirty="0"/>
          </a:p>
        </p:txBody>
      </p:sp>
      <p:sp>
        <p:nvSpPr>
          <p:cNvPr id="7" name="Shape 5"/>
          <p:cNvSpPr/>
          <p:nvPr/>
        </p:nvSpPr>
        <p:spPr>
          <a:xfrm>
            <a:off x="457200" y="2148840"/>
            <a:ext cx="5440680" cy="3108960"/>
          </a:xfrm>
          <a:prstGeom prst="roundRect">
            <a:avLst>
              <a:gd name="adj" fmla="val 2353"/>
            </a:avLst>
          </a:prstGeom>
          <a:solidFill>
            <a:srgbClr val="16283D"/>
          </a:solidFill>
          <a:ln w="12700">
            <a:solidFill>
              <a:srgbClr val="FF1744"/>
            </a:solidFill>
            <a:prstDash val="solid"/>
          </a:ln>
        </p:spPr>
      </p:sp>
      <p:sp>
        <p:nvSpPr>
          <p:cNvPr id="8" name="Text 6"/>
          <p:cNvSpPr txBox="1"/>
          <p:nvPr/>
        </p:nvSpPr>
        <p:spPr>
          <a:xfrm>
            <a:off x="685800" y="2286000"/>
            <a:ext cx="4983480" cy="320040"/>
          </a:xfrm>
          <a:prstGeom prst="rect">
            <a:avLst/>
          </a:prstGeom>
          <a:noFill/>
          <a:ln/>
        </p:spPr>
        <p:txBody>
          <a:bodyPr wrap="square" lIns="0" tIns="0" rIns="0" bIns="0" rtlCol="0" anchor="ctr"/>
          <a:lstStyle/>
          <a:p>
            <a:pPr indent="0" marL="0">
              <a:buNone/>
            </a:pPr>
            <a:r>
              <a:rPr lang="en-US" sz="1400" b="1" dirty="0">
                <a:solidFill>
                  <a:srgbClr val="FF1744"/>
                </a:solidFill>
                <a:latin typeface="Calibri" pitchFamily="34" charset="0"/>
                <a:ea typeface="Calibri" pitchFamily="34" charset="-122"/>
                <a:cs typeface="Calibri" pitchFamily="34" charset="-120"/>
              </a:rPr>
              <a:t>WITHOUT Poka-Yoke</a:t>
            </a:r>
            <a:endParaRPr lang="en-US" sz="1400" dirty="0"/>
          </a:p>
        </p:txBody>
      </p:sp>
      <p:sp>
        <p:nvSpPr>
          <p:cNvPr id="9" name="Text 7"/>
          <p:cNvSpPr txBox="1"/>
          <p:nvPr/>
        </p:nvSpPr>
        <p:spPr>
          <a:xfrm>
            <a:off x="685800" y="2697480"/>
            <a:ext cx="4983480" cy="2377440"/>
          </a:xfrm>
          <a:prstGeom prst="rect">
            <a:avLst/>
          </a:prstGeom>
          <a:noFill/>
          <a:ln/>
        </p:spPr>
        <p:txBody>
          <a:bodyPr wrap="square" lIns="50800" tIns="50800" rIns="50800" bIns="50800" rtlCol="0" anchor="t"/>
          <a:lstStyle/>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Developer forgets to run linter → bad code merges</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Developer hardcodes a secret → credential exposed</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Terraform formatting breaks in review → human eye misses it</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Schema changes silently break analytics</a:t>
            </a:r>
            <a:endParaRPr lang="en-US" sz="1250" dirty="0"/>
          </a:p>
        </p:txBody>
      </p:sp>
      <p:sp>
        <p:nvSpPr>
          <p:cNvPr id="10" name="Shape 8"/>
          <p:cNvSpPr/>
          <p:nvPr/>
        </p:nvSpPr>
        <p:spPr>
          <a:xfrm>
            <a:off x="6291072" y="2148840"/>
            <a:ext cx="5440680" cy="3108960"/>
          </a:xfrm>
          <a:prstGeom prst="roundRect">
            <a:avLst>
              <a:gd name="adj" fmla="val 2353"/>
            </a:avLst>
          </a:prstGeom>
          <a:solidFill>
            <a:srgbClr val="16283D"/>
          </a:solidFill>
          <a:ln w="12700">
            <a:solidFill>
              <a:srgbClr val="00C853"/>
            </a:solidFill>
            <a:prstDash val="solid"/>
          </a:ln>
        </p:spPr>
      </p:sp>
      <p:sp>
        <p:nvSpPr>
          <p:cNvPr id="11" name="Text 9"/>
          <p:cNvSpPr txBox="1"/>
          <p:nvPr/>
        </p:nvSpPr>
        <p:spPr>
          <a:xfrm>
            <a:off x="6519672" y="2286000"/>
            <a:ext cx="4983480" cy="320040"/>
          </a:xfrm>
          <a:prstGeom prst="rect">
            <a:avLst/>
          </a:prstGeom>
          <a:noFill/>
          <a:ln/>
        </p:spPr>
        <p:txBody>
          <a:bodyPr wrap="square" lIns="0" tIns="0" rIns="0" bIns="0" rtlCol="0" anchor="ctr"/>
          <a:lstStyle/>
          <a:p>
            <a:pPr indent="0" marL="0">
              <a:buNone/>
            </a:pPr>
            <a:r>
              <a:rPr lang="en-US" sz="1400" b="1" dirty="0">
                <a:solidFill>
                  <a:srgbClr val="00C853"/>
                </a:solidFill>
                <a:latin typeface="Calibri" pitchFamily="34" charset="0"/>
                <a:ea typeface="Calibri" pitchFamily="34" charset="-122"/>
                <a:cs typeface="Calibri" pitchFamily="34" charset="-120"/>
              </a:rPr>
              <a:t>WITH Poka-Yoke</a:t>
            </a:r>
            <a:endParaRPr lang="en-US" sz="1400" dirty="0"/>
          </a:p>
        </p:txBody>
      </p:sp>
      <p:sp>
        <p:nvSpPr>
          <p:cNvPr id="12" name="Text 10"/>
          <p:cNvSpPr txBox="1"/>
          <p:nvPr/>
        </p:nvSpPr>
        <p:spPr>
          <a:xfrm>
            <a:off x="6519672" y="2697480"/>
            <a:ext cx="4983480" cy="2377440"/>
          </a:xfrm>
          <a:prstGeom prst="rect">
            <a:avLst/>
          </a:prstGeom>
          <a:noFill/>
          <a:ln/>
        </p:spPr>
        <p:txBody>
          <a:bodyPr wrap="square" lIns="50800" tIns="50800" rIns="50800" bIns="50800" rtlCol="0" anchor="t"/>
          <a:lstStyle/>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Every push automatically triggers all checks</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Flake8 catches code quality issues; Black rejects unformatted Python code</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Gitleaks catches exposed secrets before merge</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Terraform fmt and validate block bad infrastructure</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Any check failure = entire build fails = merge blocked</a:t>
            </a:r>
            <a:endParaRPr lang="en-US" sz="1250" dirty="0"/>
          </a:p>
        </p:txBody>
      </p:sp>
      <p:sp>
        <p:nvSpPr>
          <p:cNvPr id="13" name="Shape 11"/>
          <p:cNvSpPr/>
          <p:nvPr/>
        </p:nvSpPr>
        <p:spPr>
          <a:xfrm>
            <a:off x="457200" y="5440680"/>
            <a:ext cx="11274552" cy="777240"/>
          </a:xfrm>
          <a:prstGeom prst="roundRect">
            <a:avLst>
              <a:gd name="adj" fmla="val 9412"/>
            </a:avLst>
          </a:prstGeom>
          <a:solidFill>
            <a:srgbClr val="0B2E45"/>
          </a:solidFill>
          <a:ln w="12700">
            <a:solidFill>
              <a:srgbClr val="00AEEF"/>
            </a:solidFill>
            <a:prstDash val="solid"/>
          </a:ln>
        </p:spPr>
      </p:sp>
      <p:sp>
        <p:nvSpPr>
          <p:cNvPr id="14" name="Text 12"/>
          <p:cNvSpPr txBox="1"/>
          <p:nvPr/>
        </p:nvSpPr>
        <p:spPr>
          <a:xfrm>
            <a:off x="731520" y="5440680"/>
            <a:ext cx="10725912" cy="777240"/>
          </a:xfrm>
          <a:prstGeom prst="rect">
            <a:avLst/>
          </a:prstGeom>
          <a:noFill/>
          <a:ln/>
        </p:spPr>
        <p:txBody>
          <a:bodyPr wrap="square" lIns="0" tIns="0" rIns="0" bIns="0" rtlCol="0" anchor="ctr"/>
          <a:lstStyle/>
          <a:p>
            <a:pPr algn="ctr" indent="0" marL="0">
              <a:buNone/>
            </a:pPr>
            <a:r>
              <a:rPr lang="en-US" sz="1450" b="1" i="1" dirty="0">
                <a:solidFill>
                  <a:srgbClr val="7FD8FF"/>
                </a:solidFill>
                <a:latin typeface="Calibri" pitchFamily="34" charset="0"/>
                <a:ea typeface="Calibri" pitchFamily="34" charset="-122"/>
                <a:cs typeface="Calibri" pitchFamily="34" charset="-120"/>
              </a:rPr>
              <a:t>Mistake-proofing is not about finding mistakes. It is about making them impossible to pass through.</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Task 2 — GitHub Actions Poka-Yoke Continuous Integration: Every Gate Explained</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78992"/>
          <a:ext cx="7589520" cy="914400"/>
        </p:xfrm>
        <a:graphic>
          <a:graphicData uri="http://schemas.openxmlformats.org/drawingml/2006/table">
            <a:tbl>
              <a:tblPr/>
              <a:tblGrid>
                <a:gridCol w="1920240"/>
                <a:gridCol w="1645920"/>
                <a:gridCol w="4023360"/>
              </a:tblGrid>
              <a:tr h="530352">
                <a:tc>
                  <a:txBody>
                    <a:bodyPr/>
                    <a:lstStyle/>
                    <a:p>
                      <a:pPr indent="0" marL="0">
                        <a:buNone/>
                      </a:pPr>
                      <a:r>
                        <a:rPr lang="en-US" sz="1050" b="1" dirty="0">
                          <a:solidFill>
                            <a:srgbClr val="FFFFFF"/>
                          </a:solidFill>
                        </a:rPr>
                        <a:t>Check</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C3350"/>
                    </a:solidFill>
                  </a:tcPr>
                </a:tc>
                <a:tc>
                  <a:txBody>
                    <a:bodyPr/>
                    <a:lstStyle/>
                    <a:p>
                      <a:pPr indent="0" marL="0">
                        <a:buNone/>
                      </a:pPr>
                      <a:r>
                        <a:rPr lang="en-US" sz="1050" b="1" dirty="0">
                          <a:solidFill>
                            <a:srgbClr val="FFFFFF"/>
                          </a:solidFill>
                        </a:rPr>
                        <a:t>Tool</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C3350"/>
                    </a:solidFill>
                  </a:tcPr>
                </a:tc>
                <a:tc>
                  <a:txBody>
                    <a:bodyPr/>
                    <a:lstStyle/>
                    <a:p>
                      <a:pPr indent="0" marL="0">
                        <a:buNone/>
                      </a:pPr>
                      <a:r>
                        <a:rPr lang="en-US" sz="1050" b="1" dirty="0">
                          <a:solidFill>
                            <a:srgbClr val="FFFFFF"/>
                          </a:solidFill>
                        </a:rPr>
                        <a:t>What It Prevents</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C3350"/>
                    </a:solidFill>
                  </a:tcPr>
                </a:tc>
              </a:tr>
              <a:tr h="530352">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Python Code Quality</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9FE7FF"/>
                          </a:solidFill>
                          <a:latin typeface="Courier New" pitchFamily="34" charset="0"/>
                          <a:ea typeface="Courier New" pitchFamily="34" charset="-122"/>
                          <a:cs typeface="Courier New" pitchFamily="34" charset="-120"/>
                        </a:rPr>
                        <a:t>Flake8</a:t>
                      </a:r>
                      <a:endParaRPr lang="en-US" sz="97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Undefined variables, unused imports, logic errors in Python</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530352">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Python Formatting</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9FE7FF"/>
                          </a:solidFill>
                          <a:latin typeface="Courier New" pitchFamily="34" charset="0"/>
                          <a:ea typeface="Courier New" pitchFamily="34" charset="-122"/>
                          <a:cs typeface="Courier New" pitchFamily="34" charset="-120"/>
                        </a:rPr>
                        <a:t>Black --check</a:t>
                      </a:r>
                      <a:endParaRPr lang="en-US" sz="97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Non-standard code formatting blocking readability and reviews</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530352">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YAML Configuration</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9FE7FF"/>
                          </a:solidFill>
                          <a:latin typeface="Courier New" pitchFamily="34" charset="0"/>
                          <a:ea typeface="Courier New" pitchFamily="34" charset="-122"/>
                          <a:cs typeface="Courier New" pitchFamily="34" charset="-120"/>
                        </a:rPr>
                        <a:t>yamllint</a:t>
                      </a:r>
                      <a:endParaRPr lang="en-US" sz="97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Malformed or invalid GitHub Actions workflow configuration</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530352">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Infrastructure Formatting</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9FE7FF"/>
                          </a:solidFill>
                          <a:latin typeface="Courier New" pitchFamily="34" charset="0"/>
                          <a:ea typeface="Courier New" pitchFamily="34" charset="-122"/>
                          <a:cs typeface="Courier New" pitchFamily="34" charset="-120"/>
                        </a:rPr>
                        <a:t>terraform fmt -check</a:t>
                      </a:r>
                      <a:endParaRPr lang="en-US" sz="97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Unformatted Terraform that is hard to read and review safely</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530352">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Infrastructure Validation</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9FE7FF"/>
                          </a:solidFill>
                          <a:latin typeface="Courier New" pitchFamily="34" charset="0"/>
                          <a:ea typeface="Courier New" pitchFamily="34" charset="-122"/>
                          <a:cs typeface="Courier New" pitchFamily="34" charset="-120"/>
                        </a:rPr>
                        <a:t>terraform validate</a:t>
                      </a:r>
                      <a:endParaRPr lang="en-US" sz="97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Syntactically invalid Terraform configurations</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530352">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Frontend Source Verification</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9FE7FF"/>
                          </a:solidFill>
                          <a:latin typeface="Courier New" pitchFamily="34" charset="0"/>
                          <a:ea typeface="Courier New" pitchFamily="34" charset="-122"/>
                          <a:cs typeface="Courier New" pitchFamily="34" charset="-120"/>
                        </a:rPr>
                        <a:t>test -f (bash)</a:t>
                      </a:r>
                      <a:endParaRPr lang="en-US" sz="97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Missing HTML, CSS, or JavaScript frontend files</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530352">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Secret Detection</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9FE7FF"/>
                          </a:solidFill>
                          <a:latin typeface="Courier New" pitchFamily="34" charset="0"/>
                          <a:ea typeface="Courier New" pitchFamily="34" charset="-122"/>
                          <a:cs typeface="Courier New" pitchFamily="34" charset="-120"/>
                        </a:rPr>
                        <a:t>Gitleaks</a:t>
                      </a:r>
                      <a:endParaRPr lang="en-US" sz="97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970" dirty="0">
                          <a:solidFill>
                            <a:srgbClr val="FFFFFF"/>
                          </a:solidFill>
                          <a:latin typeface="Calibri" pitchFamily="34" charset="0"/>
                          <a:ea typeface="Calibri" pitchFamily="34" charset="-122"/>
                          <a:cs typeface="Calibri" pitchFamily="34" charset="-120"/>
                        </a:rPr>
                        <a:t>Hardcoded Application Programming Interface keys, tokens, and credentials</a:t>
                      </a:r>
                      <a:endParaRPr lang="en-US" sz="970" dirty="0">
                        <a:latin typeface="Calibri" charset="0"/>
                        <a:ea typeface="Calibri" charset="0"/>
                        <a:cs typeface="Calibri"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bl>
          </a:graphicData>
        </a:graphic>
      </p:graphicFrame>
      <p:sp>
        <p:nvSpPr>
          <p:cNvPr id="7" name="Text 4"/>
          <p:cNvSpPr txBox="1"/>
          <p:nvPr/>
        </p:nvSpPr>
        <p:spPr>
          <a:xfrm>
            <a:off x="8321040" y="1078992"/>
            <a:ext cx="3410712" cy="320040"/>
          </a:xfrm>
          <a:prstGeom prst="rect">
            <a:avLst/>
          </a:prstGeom>
          <a:noFill/>
          <a:ln/>
        </p:spPr>
        <p:txBody>
          <a:bodyPr wrap="square" lIns="0" tIns="0" rIns="0" bIns="0" rtlCol="0" anchor="ctr"/>
          <a:lstStyle/>
          <a:p>
            <a:pPr indent="0" marL="0">
              <a:buNone/>
            </a:pPr>
            <a:r>
              <a:rPr lang="en-US" sz="1300" b="1" dirty="0">
                <a:solidFill>
                  <a:srgbClr val="00AEEF"/>
                </a:solidFill>
                <a:latin typeface="Calibri" pitchFamily="34" charset="0"/>
                <a:ea typeface="Calibri" pitchFamily="34" charset="-122"/>
                <a:cs typeface="Calibri" pitchFamily="34" charset="-120"/>
              </a:rPr>
              <a:t>Least Privilege Access</a:t>
            </a:r>
            <a:endParaRPr lang="en-US" sz="1300" dirty="0"/>
          </a:p>
        </p:txBody>
      </p:sp>
      <p:sp>
        <p:nvSpPr>
          <p:cNvPr id="8" name="Shape 5"/>
          <p:cNvSpPr/>
          <p:nvPr/>
        </p:nvSpPr>
        <p:spPr>
          <a:xfrm>
            <a:off x="8321040" y="1444752"/>
            <a:ext cx="3410712" cy="960120"/>
          </a:xfrm>
          <a:prstGeom prst="roundRect">
            <a:avLst>
              <a:gd name="adj" fmla="val 5714"/>
            </a:avLst>
          </a:prstGeom>
          <a:solidFill>
            <a:srgbClr val="081119"/>
          </a:solidFill>
          <a:ln w="9525">
            <a:solidFill>
              <a:srgbClr val="1E3A57"/>
            </a:solidFill>
            <a:prstDash val="solid"/>
          </a:ln>
        </p:spPr>
      </p:sp>
      <p:sp>
        <p:nvSpPr>
          <p:cNvPr id="9" name="Text 6"/>
          <p:cNvSpPr txBox="1"/>
          <p:nvPr/>
        </p:nvSpPr>
        <p:spPr>
          <a:xfrm>
            <a:off x="8485632" y="1554480"/>
            <a:ext cx="3081528" cy="740664"/>
          </a:xfrm>
          <a:prstGeom prst="rect">
            <a:avLst/>
          </a:prstGeom>
          <a:noFill/>
          <a:ln/>
        </p:spPr>
        <p:txBody>
          <a:bodyPr wrap="square" lIns="0" tIns="0" rIns="0" bIns="0" rtlCol="0" anchor="t"/>
          <a:lstStyle/>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permissions:</a:t>
            </a:r>
            <a:endParaRPr lang="en-US" sz="1200" dirty="0"/>
          </a:p>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  contents: read</a:t>
            </a:r>
            <a:endParaRPr lang="en-US" sz="1200" dirty="0"/>
          </a:p>
        </p:txBody>
      </p:sp>
      <p:sp>
        <p:nvSpPr>
          <p:cNvPr id="10" name="Text 7"/>
          <p:cNvSpPr txBox="1"/>
          <p:nvPr/>
        </p:nvSpPr>
        <p:spPr>
          <a:xfrm>
            <a:off x="8321040" y="2560320"/>
            <a:ext cx="3410712" cy="2286000"/>
          </a:xfrm>
          <a:prstGeom prst="rect">
            <a:avLst/>
          </a:prstGeom>
          <a:noFill/>
          <a:ln/>
        </p:spPr>
        <p:txBody>
          <a:bodyPr wrap="square" lIns="0" tIns="0" rIns="0" bIns="0" rtlCol="0" anchor="t"/>
          <a:lstStyle/>
          <a:p>
            <a:pPr algn="l" indent="0" marL="0">
              <a:buNone/>
            </a:pPr>
            <a:r>
              <a:rPr lang="en-US" sz="1150" dirty="0">
                <a:solidFill>
                  <a:srgbClr val="8FA3B8"/>
                </a:solidFill>
                <a:latin typeface="Calibri" pitchFamily="34" charset="0"/>
                <a:ea typeface="Calibri" pitchFamily="34" charset="-122"/>
                <a:cs typeface="Calibri" pitchFamily="34" charset="-120"/>
              </a:rPr>
              <a:t>The workflow token is granted read-only access to repository contents — nothing more than the check itself requires.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Task 2 — Hardcoded Secret Detection: Gitleaks Build Gate</a:t>
            </a:r>
            <a:endParaRPr lang="en-US" sz="2500" dirty="0"/>
          </a:p>
        </p:txBody>
      </p:sp>
      <p:sp>
        <p:nvSpPr>
          <p:cNvPr id="6" name="Text 4"/>
          <p:cNvSpPr txBox="1"/>
          <p:nvPr/>
        </p:nvSpPr>
        <p:spPr>
          <a:xfrm>
            <a:off x="457200" y="1143000"/>
            <a:ext cx="3657600" cy="292608"/>
          </a:xfrm>
          <a:prstGeom prst="rect">
            <a:avLst/>
          </a:prstGeom>
          <a:noFill/>
          <a:ln/>
        </p:spPr>
        <p:txBody>
          <a:bodyPr wrap="square" lIns="0" tIns="0" rIns="0" bIns="0" rtlCol="0" anchor="ctr"/>
          <a:lstStyle/>
          <a:p>
            <a:pPr indent="0" marL="0">
              <a:buNone/>
            </a:pPr>
            <a:r>
              <a:rPr lang="en-US" sz="1200" b="1" dirty="0">
                <a:solidFill>
                  <a:srgbClr val="FF1744"/>
                </a:solidFill>
                <a:latin typeface="Calibri" pitchFamily="34" charset="0"/>
                <a:ea typeface="Calibri" pitchFamily="34" charset="-122"/>
                <a:cs typeface="Calibri" pitchFamily="34" charset="-120"/>
              </a:rPr>
              <a:t>INSECURE</a:t>
            </a:r>
            <a:endParaRPr lang="en-US" sz="1200" dirty="0"/>
          </a:p>
        </p:txBody>
      </p:sp>
      <p:sp>
        <p:nvSpPr>
          <p:cNvPr id="7" name="Shape 5"/>
          <p:cNvSpPr/>
          <p:nvPr/>
        </p:nvSpPr>
        <p:spPr>
          <a:xfrm>
            <a:off x="457200" y="1463040"/>
            <a:ext cx="4206240" cy="1554480"/>
          </a:xfrm>
          <a:prstGeom prst="roundRect">
            <a:avLst>
              <a:gd name="adj" fmla="val 3529"/>
            </a:avLst>
          </a:prstGeom>
          <a:solidFill>
            <a:srgbClr val="081119"/>
          </a:solidFill>
          <a:ln w="9525">
            <a:solidFill>
              <a:srgbClr val="1E3A57"/>
            </a:solidFill>
            <a:prstDash val="solid"/>
          </a:ln>
        </p:spPr>
      </p:sp>
      <p:sp>
        <p:nvSpPr>
          <p:cNvPr id="8" name="Text 6"/>
          <p:cNvSpPr txBox="1"/>
          <p:nvPr/>
        </p:nvSpPr>
        <p:spPr>
          <a:xfrm>
            <a:off x="621792" y="1572768"/>
            <a:ext cx="3877056" cy="1335024"/>
          </a:xfrm>
          <a:prstGeom prst="rect">
            <a:avLst/>
          </a:prstGeom>
          <a:noFill/>
          <a:ln/>
        </p:spPr>
        <p:txBody>
          <a:bodyPr wrap="square" lIns="0" tIns="0" rIns="0" bIns="0" rtlCol="0" anchor="t"/>
          <a:lstStyle/>
          <a:p>
            <a:pPr algn="l" indent="0" marL="0">
              <a:lnSpc>
                <a:spcPct val="115000"/>
              </a:lnSpc>
              <a:buNone/>
            </a:pPr>
            <a:r>
              <a:rPr lang="en-US" sz="1200" dirty="0">
                <a:solidFill>
                  <a:srgbClr val="6E85A0"/>
                </a:solidFill>
                <a:latin typeface="Courier New" pitchFamily="34" charset="0"/>
                <a:ea typeface="Courier New" pitchFamily="34" charset="-122"/>
                <a:cs typeface="Courier New" pitchFamily="34" charset="-120"/>
              </a:rPr>
              <a:t># What the junior developer did</a:t>
            </a:r>
            <a:endParaRPr lang="en-US" sz="1200" dirty="0"/>
          </a:p>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API_KEY = "AIzaSyD-9tSrke72..."</a:t>
            </a:r>
            <a:endParaRPr lang="en-US" sz="1200" dirty="0"/>
          </a:p>
          <a:p>
            <a:pPr algn="l" indent="0" marL="0">
              <a:lnSpc>
                <a:spcPct val="115000"/>
              </a:lnSpc>
              <a:buNone/>
            </a:pPr>
            <a:r>
              <a:rPr lang="en-US" sz="1200" dirty="0">
                <a:solidFill>
                  <a:srgbClr val="DCEEFB"/>
                </a:solidFill>
                <a:latin typeface="Courier New" pitchFamily="34" charset="0"/>
                <a:ea typeface="Courier New" pitchFamily="34" charset="-122"/>
                <a:cs typeface="Courier New" pitchFamily="34" charset="-120"/>
              </a:rPr>
              <a:t>SECRET_KEY = "local-development-key"</a:t>
            </a:r>
            <a:endParaRPr lang="en-US" sz="1200" dirty="0"/>
          </a:p>
        </p:txBody>
      </p:sp>
      <p:sp>
        <p:nvSpPr>
          <p:cNvPr id="9" name="Shape 7"/>
          <p:cNvSpPr/>
          <p:nvPr/>
        </p:nvSpPr>
        <p:spPr>
          <a:xfrm>
            <a:off x="4892040" y="1828800"/>
            <a:ext cx="2423160" cy="685800"/>
          </a:xfrm>
          <a:prstGeom prst="roundRect">
            <a:avLst>
              <a:gd name="adj" fmla="val 10667"/>
            </a:avLst>
          </a:prstGeom>
          <a:solidFill>
            <a:srgbClr val="3A0A12"/>
          </a:solidFill>
          <a:ln w="15875">
            <a:solidFill>
              <a:srgbClr val="FF1744"/>
            </a:solidFill>
            <a:prstDash val="solid"/>
          </a:ln>
        </p:spPr>
      </p:sp>
      <p:sp>
        <p:nvSpPr>
          <p:cNvPr id="10" name="Text 8"/>
          <p:cNvSpPr txBox="1"/>
          <p:nvPr/>
        </p:nvSpPr>
        <p:spPr>
          <a:xfrm>
            <a:off x="4892040" y="1828800"/>
            <a:ext cx="2423160" cy="685800"/>
          </a:xfrm>
          <a:prstGeom prst="rect">
            <a:avLst/>
          </a:prstGeom>
          <a:noFill/>
          <a:ln/>
        </p:spPr>
        <p:txBody>
          <a:bodyPr wrap="square" lIns="0" tIns="0" rIns="0" bIns="0" rtlCol="0" anchor="ctr"/>
          <a:lstStyle/>
          <a:p>
            <a:pPr algn="ctr" indent="0" marL="0">
              <a:buNone/>
            </a:pPr>
            <a:r>
              <a:rPr lang="en-US" sz="1600" b="1" dirty="0">
                <a:solidFill>
                  <a:srgbClr val="FF1744"/>
                </a:solidFill>
                <a:latin typeface="Calibri" pitchFamily="34" charset="0"/>
                <a:ea typeface="Calibri" pitchFamily="34" charset="-122"/>
                <a:cs typeface="Calibri" pitchFamily="34" charset="-120"/>
              </a:rPr>
              <a:t>✖ BLOCKED</a:t>
            </a:r>
            <a:endParaRPr lang="en-US" sz="1600" dirty="0"/>
          </a:p>
        </p:txBody>
      </p:sp>
      <p:sp>
        <p:nvSpPr>
          <p:cNvPr id="11" name="Text 9"/>
          <p:cNvSpPr txBox="1"/>
          <p:nvPr/>
        </p:nvSpPr>
        <p:spPr>
          <a:xfrm>
            <a:off x="7525512" y="1143000"/>
            <a:ext cx="4206240" cy="292608"/>
          </a:xfrm>
          <a:prstGeom prst="rect">
            <a:avLst/>
          </a:prstGeom>
          <a:noFill/>
          <a:ln/>
        </p:spPr>
        <p:txBody>
          <a:bodyPr wrap="square" lIns="0" tIns="0" rIns="0" bIns="0" rtlCol="0" anchor="ctr"/>
          <a:lstStyle/>
          <a:p>
            <a:pPr indent="0" marL="0">
              <a:buNone/>
            </a:pPr>
            <a:r>
              <a:rPr lang="en-US" sz="1200" b="1" dirty="0">
                <a:solidFill>
                  <a:srgbClr val="00C853"/>
                </a:solidFill>
                <a:latin typeface="Calibri" pitchFamily="34" charset="0"/>
                <a:ea typeface="Calibri" pitchFamily="34" charset="-122"/>
                <a:cs typeface="Calibri" pitchFamily="34" charset="-120"/>
              </a:rPr>
              <a:t>SECURE</a:t>
            </a:r>
            <a:endParaRPr lang="en-US" sz="1200" dirty="0"/>
          </a:p>
        </p:txBody>
      </p:sp>
      <p:sp>
        <p:nvSpPr>
          <p:cNvPr id="12" name="Shape 10"/>
          <p:cNvSpPr/>
          <p:nvPr/>
        </p:nvSpPr>
        <p:spPr>
          <a:xfrm>
            <a:off x="7525512" y="1463040"/>
            <a:ext cx="4206240" cy="1737360"/>
          </a:xfrm>
          <a:prstGeom prst="roundRect">
            <a:avLst>
              <a:gd name="adj" fmla="val 3158"/>
            </a:avLst>
          </a:prstGeom>
          <a:solidFill>
            <a:srgbClr val="081119"/>
          </a:solidFill>
          <a:ln w="9525">
            <a:solidFill>
              <a:srgbClr val="1E3A57"/>
            </a:solidFill>
            <a:prstDash val="solid"/>
          </a:ln>
        </p:spPr>
      </p:sp>
      <p:sp>
        <p:nvSpPr>
          <p:cNvPr id="13" name="Text 11"/>
          <p:cNvSpPr txBox="1"/>
          <p:nvPr/>
        </p:nvSpPr>
        <p:spPr>
          <a:xfrm>
            <a:off x="7690104" y="1572768"/>
            <a:ext cx="3877056" cy="1517904"/>
          </a:xfrm>
          <a:prstGeom prst="rect">
            <a:avLst/>
          </a:prstGeom>
          <a:noFill/>
          <a:ln/>
        </p:spPr>
        <p:txBody>
          <a:bodyPr wrap="square" lIns="0" tIns="0" rIns="0" bIns="0" rtlCol="0" anchor="t"/>
          <a:lstStyle/>
          <a:p>
            <a:pPr algn="l" indent="0" marL="0">
              <a:lnSpc>
                <a:spcPct val="115000"/>
              </a:lnSpc>
              <a:buNone/>
            </a:pPr>
            <a:r>
              <a:rPr lang="en-US" sz="1100" dirty="0">
                <a:solidFill>
                  <a:srgbClr val="6E85A0"/>
                </a:solidFill>
                <a:latin typeface="Courier New" pitchFamily="34" charset="0"/>
                <a:ea typeface="Courier New" pitchFamily="34" charset="-122"/>
                <a:cs typeface="Courier New" pitchFamily="34" charset="-120"/>
              </a:rPr>
              <a:t># Environment variable only, no fallback</a:t>
            </a:r>
            <a:endParaRPr lang="en-US" sz="1100" dirty="0"/>
          </a:p>
          <a:p>
            <a:pPr algn="l" indent="0" marL="0">
              <a:lnSpc>
                <a:spcPct val="115000"/>
              </a:lnSpc>
              <a:buNone/>
            </a:pPr>
            <a:r>
              <a:rPr lang="en-US" sz="1100" dirty="0">
                <a:solidFill>
                  <a:srgbClr val="DCEEFB"/>
                </a:solidFill>
                <a:latin typeface="Courier New" pitchFamily="34" charset="0"/>
                <a:ea typeface="Courier New" pitchFamily="34" charset="-122"/>
                <a:cs typeface="Courier New" pitchFamily="34" charset="-120"/>
              </a:rPr>
              <a:t>SECRET_KEY = os.environ["DJANGO_SECRET_KEY"]</a:t>
            </a:r>
            <a:endParaRPr lang="en-US" sz="1100" dirty="0"/>
          </a:p>
          <a:p>
            <a:pPr algn="l" indent="0" marL="0">
              <a:lnSpc>
                <a:spcPct val="115000"/>
              </a:lnSpc>
              <a:buNone/>
            </a:pPr>
            <a:r>
              <a:rPr lang="en-US" sz="1100" dirty="0">
                <a:solidFill>
                  <a:srgbClr val="DCEEFB"/>
                </a:solidFill>
                <a:latin typeface="Courier New" pitchFamily="34" charset="0"/>
                <a:ea typeface="Courier New" pitchFamily="34" charset="-122"/>
                <a:cs typeface="Courier New" pitchFamily="34" charset="-120"/>
              </a:rPr>
              <a:t>GOOGLE_CLOUD_PROJECT = os.environ.get(</a:t>
            </a:r>
            <a:endParaRPr lang="en-US" sz="1100" dirty="0"/>
          </a:p>
          <a:p>
            <a:pPr algn="l" indent="0" marL="0">
              <a:lnSpc>
                <a:spcPct val="115000"/>
              </a:lnSpc>
              <a:buNone/>
            </a:pPr>
            <a:r>
              <a:rPr lang="en-US" sz="1100" dirty="0">
                <a:solidFill>
                  <a:srgbClr val="DCEEFB"/>
                </a:solidFill>
                <a:latin typeface="Courier New" pitchFamily="34" charset="0"/>
                <a:ea typeface="Courier New" pitchFamily="34" charset="-122"/>
                <a:cs typeface="Courier New" pitchFamily="34" charset="-120"/>
              </a:rPr>
              <a:t>    "GOOGLE_CLOUD_PROJECT",</a:t>
            </a:r>
            <a:endParaRPr lang="en-US" sz="1100" dirty="0"/>
          </a:p>
          <a:p>
            <a:pPr algn="l" indent="0" marL="0">
              <a:lnSpc>
                <a:spcPct val="115000"/>
              </a:lnSpc>
              <a:buNone/>
            </a:pPr>
            <a:r>
              <a:rPr lang="en-US" sz="1100" dirty="0">
                <a:solidFill>
                  <a:srgbClr val="DCEEFB"/>
                </a:solidFill>
                <a:latin typeface="Courier New" pitchFamily="34" charset="0"/>
                <a:ea typeface="Courier New" pitchFamily="34" charset="-122"/>
                <a:cs typeface="Courier New" pitchFamily="34" charset="-120"/>
              </a:rPr>
              <a:t>    "divine-bloom-441216-m7",</a:t>
            </a:r>
            <a:endParaRPr lang="en-US" sz="1100" dirty="0"/>
          </a:p>
          <a:p>
            <a:pPr algn="l" indent="0" marL="0">
              <a:lnSpc>
                <a:spcPct val="115000"/>
              </a:lnSpc>
              <a:buNone/>
            </a:pPr>
            <a:r>
              <a:rPr lang="en-US" sz="1100" dirty="0">
                <a:solidFill>
                  <a:srgbClr val="DCEEFB"/>
                </a:solidFill>
                <a:latin typeface="Courier New" pitchFamily="34" charset="0"/>
                <a:ea typeface="Courier New" pitchFamily="34" charset="-122"/>
                <a:cs typeface="Courier New" pitchFamily="34" charset="-120"/>
              </a:rPr>
              <a:t>)</a:t>
            </a:r>
            <a:endParaRPr lang="en-US" sz="1100" dirty="0"/>
          </a:p>
        </p:txBody>
      </p:sp>
      <p:sp>
        <p:nvSpPr>
          <p:cNvPr id="14" name="Shape 12"/>
          <p:cNvSpPr/>
          <p:nvPr/>
        </p:nvSpPr>
        <p:spPr>
          <a:xfrm>
            <a:off x="457200" y="3383280"/>
            <a:ext cx="11274552" cy="2651760"/>
          </a:xfrm>
          <a:prstGeom prst="roundRect">
            <a:avLst>
              <a:gd name="adj" fmla="val 2759"/>
            </a:avLst>
          </a:prstGeom>
          <a:solidFill>
            <a:srgbClr val="16283D"/>
          </a:solidFill>
          <a:ln w="9525">
            <a:solidFill>
              <a:srgbClr val="24405F"/>
            </a:solidFill>
            <a:prstDash val="solid"/>
          </a:ln>
        </p:spPr>
      </p:sp>
      <p:sp>
        <p:nvSpPr>
          <p:cNvPr id="15" name="Text 13"/>
          <p:cNvSpPr txBox="1"/>
          <p:nvPr/>
        </p:nvSpPr>
        <p:spPr>
          <a:xfrm>
            <a:off x="777240" y="3611880"/>
            <a:ext cx="10634472" cy="2194560"/>
          </a:xfrm>
          <a:prstGeom prst="rect">
            <a:avLst/>
          </a:prstGeom>
          <a:noFill/>
          <a:ln/>
        </p:spPr>
        <p:txBody>
          <a:bodyPr wrap="square" lIns="0" tIns="0" rIns="0" bIns="0" rtlCol="0" anchor="t"/>
          <a:lstStyle/>
          <a:p>
            <a:pPr algn="l" indent="0" marL="0">
              <a:lnSpc>
                <a:spcPct val="130000"/>
              </a:lnSpc>
              <a:buNone/>
            </a:pPr>
            <a:r>
              <a:rPr lang="en-US" sz="1600" dirty="0">
                <a:solidFill>
                  <a:srgbClr val="FFFFFF"/>
                </a:solidFill>
                <a:latin typeface="Calibri" pitchFamily="34" charset="0"/>
                <a:ea typeface="Calibri" pitchFamily="34" charset="-122"/>
                <a:cs typeface="Calibri" pitchFamily="34" charset="-120"/>
              </a:rPr>
              <a:t>Gitleaks scans every commit for over 100 known secret patterns including Google Cloud Platform credentials, Django secret keys, GitHub tokens, and database passwords. If any pattern matches, the Continuous Integration job fails immediately with exit code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Task 2 — Live Fail-Closed Demonstration: Continuous Integration Gate Blocked an Invalid Commit</a:t>
            </a:r>
            <a:endParaRPr lang="en-US" sz="2500" dirty="0"/>
          </a:p>
        </p:txBody>
      </p:sp>
      <p:pic>
        <p:nvPicPr>
          <p:cNvPr id="6" name="Image 0" descr="/mnt/user-data/uploads/Screenshot_2026-09-12_231158.png">    </p:cNvPr>
          <p:cNvPicPr>
            <a:picLocks noChangeAspect="1"/>
          </p:cNvPicPr>
          <p:nvPr/>
        </p:nvPicPr>
        <p:blipFill>
          <a:blip r:embed="rId1"/>
          <a:stretch>
            <a:fillRect/>
          </a:stretch>
        </p:blipFill>
        <p:spPr>
          <a:xfrm>
            <a:off x="457200" y="1078992"/>
            <a:ext cx="6492240" cy="3031619"/>
          </a:xfrm>
          <a:prstGeom prst="rect">
            <a:avLst/>
          </a:prstGeom>
        </p:spPr>
      </p:pic>
      <p:sp>
        <p:nvSpPr>
          <p:cNvPr id="7" name="Shape 4"/>
          <p:cNvSpPr/>
          <p:nvPr/>
        </p:nvSpPr>
        <p:spPr>
          <a:xfrm>
            <a:off x="457200" y="1078992"/>
            <a:ext cx="6492240" cy="3031619"/>
          </a:xfrm>
          <a:prstGeom prst="roundRect">
            <a:avLst>
              <a:gd name="adj" fmla="val 905"/>
            </a:avLst>
          </a:prstGeom>
          <a:ln w="15875">
            <a:solidFill>
              <a:srgbClr val="FF1744"/>
            </a:solidFill>
            <a:prstDash val="solid"/>
          </a:ln>
        </p:spPr>
      </p:sp>
      <p:sp>
        <p:nvSpPr>
          <p:cNvPr id="8" name="Shape 5"/>
          <p:cNvSpPr/>
          <p:nvPr/>
        </p:nvSpPr>
        <p:spPr>
          <a:xfrm>
            <a:off x="7178040" y="1078992"/>
            <a:ext cx="4553712" cy="3031619"/>
          </a:xfrm>
          <a:prstGeom prst="roundRect">
            <a:avLst>
              <a:gd name="adj" fmla="val 2413"/>
            </a:avLst>
          </a:prstGeom>
          <a:solidFill>
            <a:srgbClr val="16283D"/>
          </a:solidFill>
          <a:ln w="12700">
            <a:solidFill>
              <a:srgbClr val="FF1744"/>
            </a:solidFill>
            <a:prstDash val="solid"/>
          </a:ln>
        </p:spPr>
      </p:sp>
      <p:sp>
        <p:nvSpPr>
          <p:cNvPr id="9" name="Text 6"/>
          <p:cNvSpPr txBox="1"/>
          <p:nvPr/>
        </p:nvSpPr>
        <p:spPr>
          <a:xfrm>
            <a:off x="7360920" y="1188720"/>
            <a:ext cx="4206240" cy="548640"/>
          </a:xfrm>
          <a:prstGeom prst="rect">
            <a:avLst/>
          </a:prstGeom>
          <a:noFill/>
          <a:ln/>
        </p:spPr>
        <p:txBody>
          <a:bodyPr wrap="square" lIns="0" tIns="0" rIns="0" bIns="0" rtlCol="0" anchor="t"/>
          <a:lstStyle/>
          <a:p>
            <a:pPr algn="l" indent="0" marL="0">
              <a:buNone/>
            </a:pPr>
            <a:r>
              <a:rPr lang="en-US" sz="1100" b="1" dirty="0">
                <a:solidFill>
                  <a:srgbClr val="00AEEF"/>
                </a:solidFill>
                <a:latin typeface="Calibri" pitchFamily="34" charset="0"/>
                <a:ea typeface="Calibri" pitchFamily="34" charset="-122"/>
                <a:cs typeface="Calibri" pitchFamily="34" charset="-120"/>
              </a:rPr>
              <a:t>Commit:  </a:t>
            </a:r>
            <a:pPr algn="l" indent="0" marL="0">
              <a:buNone/>
            </a:pPr>
            <a:r>
              <a:rPr lang="en-US" sz="1100" dirty="0">
                <a:solidFill>
                  <a:srgbClr val="FFFFFF"/>
                </a:solidFill>
                <a:latin typeface="Calibri" pitchFamily="34" charset="0"/>
                <a:ea typeface="Calibri" pitchFamily="34" charset="-122"/>
                <a:cs typeface="Calibri" pitchFamily="34" charset="-120"/>
              </a:rPr>
              <a:t>"Revise D0 raw data landing layer documentation" (#20)</a:t>
            </a:r>
            <a:endParaRPr lang="en-US" sz="1100" dirty="0"/>
          </a:p>
        </p:txBody>
      </p:sp>
      <p:sp>
        <p:nvSpPr>
          <p:cNvPr id="10" name="Text 7"/>
          <p:cNvSpPr txBox="1"/>
          <p:nvPr/>
        </p:nvSpPr>
        <p:spPr>
          <a:xfrm>
            <a:off x="7360920" y="1691640"/>
            <a:ext cx="4206240" cy="365760"/>
          </a:xfrm>
          <a:prstGeom prst="rect">
            <a:avLst/>
          </a:prstGeom>
          <a:noFill/>
          <a:ln/>
        </p:spPr>
        <p:txBody>
          <a:bodyPr wrap="square" lIns="0" tIns="0" rIns="0" bIns="0" rtlCol="0" anchor="t"/>
          <a:lstStyle/>
          <a:p>
            <a:pPr algn="l" indent="0" marL="0">
              <a:buNone/>
            </a:pPr>
            <a:r>
              <a:rPr lang="en-US" sz="1100" b="1" dirty="0">
                <a:solidFill>
                  <a:srgbClr val="00AEEF"/>
                </a:solidFill>
                <a:latin typeface="Calibri" pitchFamily="34" charset="0"/>
                <a:ea typeface="Calibri" pitchFamily="34" charset="-122"/>
                <a:cs typeface="Calibri" pitchFamily="34" charset="-120"/>
              </a:rPr>
              <a:t>Gate that fired:  </a:t>
            </a:r>
            <a:pPr algn="l" indent="0" marL="0">
              <a:buNone/>
            </a:pPr>
            <a:r>
              <a:rPr lang="en-US" sz="1100" dirty="0">
                <a:solidFill>
                  <a:srgbClr val="FFFFFF"/>
                </a:solidFill>
                <a:latin typeface="Calibri" pitchFamily="34" charset="0"/>
                <a:ea typeface="Calibri" pitchFamily="34" charset="-122"/>
                <a:cs typeface="Calibri" pitchFamily="34" charset="-120"/>
              </a:rPr>
              <a:t>Flake8 (Python code quality check)</a:t>
            </a:r>
            <a:endParaRPr lang="en-US" sz="1100" dirty="0"/>
          </a:p>
        </p:txBody>
      </p:sp>
      <p:sp>
        <p:nvSpPr>
          <p:cNvPr id="11" name="Text 8"/>
          <p:cNvSpPr txBox="1"/>
          <p:nvPr/>
        </p:nvSpPr>
        <p:spPr>
          <a:xfrm>
            <a:off x="7360920" y="2057400"/>
            <a:ext cx="4206240" cy="228600"/>
          </a:xfrm>
          <a:prstGeom prst="rect">
            <a:avLst/>
          </a:prstGeom>
          <a:noFill/>
          <a:ln/>
        </p:spPr>
        <p:txBody>
          <a:bodyPr wrap="square" lIns="0" tIns="0" rIns="0" bIns="0" rtlCol="0" anchor="ctr"/>
          <a:lstStyle/>
          <a:p>
            <a:pPr indent="0" marL="0">
              <a:buNone/>
            </a:pPr>
            <a:r>
              <a:rPr lang="en-US" sz="1100" b="1" dirty="0">
                <a:solidFill>
                  <a:srgbClr val="00AEEF"/>
                </a:solidFill>
                <a:latin typeface="Calibri" pitchFamily="34" charset="0"/>
                <a:ea typeface="Calibri" pitchFamily="34" charset="-122"/>
                <a:cs typeface="Calibri" pitchFamily="34" charset="-120"/>
              </a:rPr>
              <a:t>Errors detected:</a:t>
            </a:r>
            <a:endParaRPr lang="en-US" sz="1100" dirty="0"/>
          </a:p>
        </p:txBody>
      </p:sp>
      <p:sp>
        <p:nvSpPr>
          <p:cNvPr id="12" name="Shape 9"/>
          <p:cNvSpPr/>
          <p:nvPr/>
        </p:nvSpPr>
        <p:spPr>
          <a:xfrm>
            <a:off x="7360920" y="2286000"/>
            <a:ext cx="4160520" cy="1051560"/>
          </a:xfrm>
          <a:prstGeom prst="roundRect">
            <a:avLst>
              <a:gd name="adj" fmla="val 5217"/>
            </a:avLst>
          </a:prstGeom>
          <a:solidFill>
            <a:srgbClr val="081119"/>
          </a:solidFill>
          <a:ln w="9525">
            <a:solidFill>
              <a:srgbClr val="1E3A57"/>
            </a:solidFill>
            <a:prstDash val="solid"/>
          </a:ln>
        </p:spPr>
      </p:sp>
      <p:sp>
        <p:nvSpPr>
          <p:cNvPr id="13" name="Text 10"/>
          <p:cNvSpPr txBox="1"/>
          <p:nvPr/>
        </p:nvSpPr>
        <p:spPr>
          <a:xfrm>
            <a:off x="7525512" y="2395728"/>
            <a:ext cx="3831336" cy="832104"/>
          </a:xfrm>
          <a:prstGeom prst="rect">
            <a:avLst/>
          </a:prstGeom>
          <a:noFill/>
          <a:ln/>
        </p:spPr>
        <p:txBody>
          <a:bodyPr wrap="square" lIns="0" tIns="0" rIns="0" bIns="0" rtlCol="0" anchor="t"/>
          <a:lstStyle/>
          <a:p>
            <a:pPr algn="l" indent="0" marL="0">
              <a:lnSpc>
                <a:spcPct val="115000"/>
              </a:lnSpc>
              <a:buNone/>
            </a:pPr>
            <a:r>
              <a:rPr lang="en-US" sz="850" dirty="0">
                <a:solidFill>
                  <a:srgbClr val="DCEEFB"/>
                </a:solidFill>
                <a:latin typeface="Courier New" pitchFamily="34" charset="0"/>
                <a:ea typeface="Courier New" pitchFamily="34" charset="-122"/>
                <a:cs typeface="Courier New" pitchFamily="34" charset="-120"/>
              </a:rPr>
              <a:t>settings.py:48:2  W292 no newline at end of file</a:t>
            </a:r>
            <a:endParaRPr lang="en-US" sz="850" dirty="0"/>
          </a:p>
          <a:p>
            <a:pPr algn="l" indent="0" marL="0">
              <a:lnSpc>
                <a:spcPct val="115000"/>
              </a:lnSpc>
              <a:buNone/>
            </a:pPr>
            <a:r>
              <a:rPr lang="en-US" sz="850" dirty="0">
                <a:solidFill>
                  <a:srgbClr val="DCEEFB"/>
                </a:solidFill>
                <a:latin typeface="Courier New" pitchFamily="34" charset="0"/>
                <a:ea typeface="Courier New" pitchFamily="34" charset="-122"/>
                <a:cs typeface="Courier New" pitchFamily="34" charset="-120"/>
              </a:rPr>
              <a:t>urls.py:8:2  W292 no newline at end of file</a:t>
            </a:r>
            <a:endParaRPr lang="en-US" sz="850" dirty="0"/>
          </a:p>
          <a:p>
            <a:pPr algn="l" indent="0" marL="0">
              <a:lnSpc>
                <a:spcPct val="115000"/>
              </a:lnSpc>
              <a:buNone/>
            </a:pPr>
            <a:r>
              <a:rPr lang="en-US" sz="850" dirty="0">
                <a:solidFill>
                  <a:srgbClr val="DCEEFB"/>
                </a:solidFill>
                <a:latin typeface="Courier New" pitchFamily="34" charset="0"/>
                <a:ea typeface="Courier New" pitchFamily="34" charset="-122"/>
                <a:cs typeface="Courier New" pitchFamily="34" charset="-120"/>
              </a:rPr>
              <a:t>migrations/0001_initial.py:17:80</a:t>
            </a:r>
            <a:endParaRPr lang="en-US" sz="850" dirty="0"/>
          </a:p>
          <a:p>
            <a:pPr algn="l" indent="0" marL="0">
              <a:lnSpc>
                <a:spcPct val="115000"/>
              </a:lnSpc>
              <a:buNone/>
            </a:pPr>
            <a:r>
              <a:rPr lang="en-US" sz="850" dirty="0">
                <a:solidFill>
                  <a:srgbClr val="DCEEFB"/>
                </a:solidFill>
                <a:latin typeface="Courier New" pitchFamily="34" charset="0"/>
                <a:ea typeface="Courier New" pitchFamily="34" charset="-122"/>
                <a:cs typeface="Courier New" pitchFamily="34" charset="-120"/>
              </a:rPr>
              <a:t>  E501 line too long (117 &gt; 79 chars)</a:t>
            </a:r>
            <a:endParaRPr lang="en-US" sz="850" dirty="0"/>
          </a:p>
          <a:p>
            <a:pPr algn="l" indent="0" marL="0">
              <a:lnSpc>
                <a:spcPct val="115000"/>
              </a:lnSpc>
              <a:buNone/>
            </a:pPr>
            <a:r>
              <a:rPr lang="en-US" sz="850" dirty="0">
                <a:solidFill>
                  <a:srgbClr val="DCEEFB"/>
                </a:solidFill>
                <a:latin typeface="Courier New" pitchFamily="34" charset="0"/>
                <a:ea typeface="Courier New" pitchFamily="34" charset="-122"/>
                <a:cs typeface="Courier New" pitchFamily="34" charset="-120"/>
              </a:rPr>
              <a:t>views.py:31:10  W292 no newline at end of file</a:t>
            </a:r>
            <a:endParaRPr lang="en-US" sz="850" dirty="0"/>
          </a:p>
        </p:txBody>
      </p:sp>
      <p:sp>
        <p:nvSpPr>
          <p:cNvPr id="14" name="Text 11"/>
          <p:cNvSpPr txBox="1"/>
          <p:nvPr/>
        </p:nvSpPr>
        <p:spPr>
          <a:xfrm>
            <a:off x="7360920" y="3383280"/>
            <a:ext cx="4206240" cy="773051"/>
          </a:xfrm>
          <a:prstGeom prst="rect">
            <a:avLst/>
          </a:prstGeom>
          <a:noFill/>
          <a:ln/>
        </p:spPr>
        <p:txBody>
          <a:bodyPr wrap="square" lIns="0" tIns="0" rIns="0" bIns="0" rtlCol="0" anchor="t"/>
          <a:lstStyle/>
          <a:p>
            <a:pPr algn="l" indent="0" marL="0">
              <a:buNone/>
            </a:pPr>
            <a:r>
              <a:rPr lang="en-US" sz="1050" b="1" dirty="0">
                <a:solidFill>
                  <a:srgbClr val="FF1744"/>
                </a:solidFill>
                <a:latin typeface="Calibri" pitchFamily="34" charset="0"/>
                <a:ea typeface="Calibri" pitchFamily="34" charset="-122"/>
                <a:cs typeface="Calibri" pitchFamily="34" charset="-120"/>
              </a:rPr>
              <a:t>Result:  </a:t>
            </a:r>
            <a:pPr algn="l" indent="0" marL="0">
              <a:buNone/>
            </a:pPr>
            <a:r>
              <a:rPr lang="en-US" sz="1050" dirty="0">
                <a:solidFill>
                  <a:srgbClr val="FFFFFF"/>
                </a:solidFill>
                <a:latin typeface="Calibri" pitchFamily="34" charset="0"/>
                <a:ea typeface="Calibri" pitchFamily="34" charset="-122"/>
                <a:cs typeface="Calibri" pitchFamily="34" charset="-120"/>
              </a:rPr>
              <a:t>Process completed with exit code 1. Build blocked. Merge prevented.</a:t>
            </a:r>
            <a:endParaRPr lang="en-US" sz="1050" dirty="0"/>
          </a:p>
        </p:txBody>
      </p:sp>
      <p:sp>
        <p:nvSpPr>
          <p:cNvPr id="15" name="Shape 12"/>
          <p:cNvSpPr/>
          <p:nvPr/>
        </p:nvSpPr>
        <p:spPr>
          <a:xfrm>
            <a:off x="457200" y="4339211"/>
            <a:ext cx="11274552" cy="685800"/>
          </a:xfrm>
          <a:prstGeom prst="roundRect">
            <a:avLst>
              <a:gd name="adj" fmla="val 10667"/>
            </a:avLst>
          </a:prstGeom>
          <a:solidFill>
            <a:srgbClr val="0C3A24"/>
          </a:solidFill>
          <a:ln w="12700">
            <a:solidFill>
              <a:srgbClr val="00C853"/>
            </a:solidFill>
            <a:prstDash val="solid"/>
          </a:ln>
        </p:spPr>
      </p:sp>
      <p:sp>
        <p:nvSpPr>
          <p:cNvPr id="16" name="Text 13"/>
          <p:cNvSpPr txBox="1"/>
          <p:nvPr/>
        </p:nvSpPr>
        <p:spPr>
          <a:xfrm>
            <a:off x="731520" y="4339211"/>
            <a:ext cx="10725912" cy="685800"/>
          </a:xfrm>
          <a:prstGeom prst="rect">
            <a:avLst/>
          </a:prstGeom>
          <a:noFill/>
          <a:ln/>
        </p:spPr>
        <p:txBody>
          <a:bodyPr wrap="square" lIns="0" tIns="0" rIns="0" bIns="0" rtlCol="0" anchor="ctr"/>
          <a:lstStyle/>
          <a:p>
            <a:pPr algn="ctr" indent="0" marL="0">
              <a:buNone/>
            </a:pPr>
            <a:r>
              <a:rPr lang="en-US" sz="1400" b="1" i="1" dirty="0">
                <a:solidFill>
                  <a:srgbClr val="6FF3B0"/>
                </a:solidFill>
                <a:latin typeface="Calibri" pitchFamily="34" charset="0"/>
                <a:ea typeface="Calibri" pitchFamily="34" charset="-122"/>
                <a:cs typeface="Calibri" pitchFamily="34" charset="-120"/>
              </a:rPr>
              <a:t>The gate worked exactly as designed. No human review was needed to catch the error.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Task 3 — Deconstructed Clean Yes/No Validation: Removing Human Judgment from Data Acceptance</a:t>
            </a:r>
            <a:endParaRPr lang="en-US" sz="2500" dirty="0"/>
          </a:p>
        </p:txBody>
      </p:sp>
      <p:sp>
        <p:nvSpPr>
          <p:cNvPr id="6" name="Shape 4"/>
          <p:cNvSpPr/>
          <p:nvPr/>
        </p:nvSpPr>
        <p:spPr>
          <a:xfrm>
            <a:off x="457200" y="1051560"/>
            <a:ext cx="11274552" cy="777240"/>
          </a:xfrm>
          <a:prstGeom prst="roundRect">
            <a:avLst>
              <a:gd name="adj" fmla="val 9412"/>
            </a:avLst>
          </a:prstGeom>
          <a:solidFill>
            <a:srgbClr val="16283D"/>
          </a:solidFill>
          <a:ln w="9525">
            <a:solidFill>
              <a:srgbClr val="24405F"/>
            </a:solidFill>
            <a:prstDash val="solid"/>
          </a:ln>
        </p:spPr>
      </p:sp>
      <p:sp>
        <p:nvSpPr>
          <p:cNvPr id="7" name="Text 5"/>
          <p:cNvSpPr txBox="1"/>
          <p:nvPr/>
        </p:nvSpPr>
        <p:spPr>
          <a:xfrm>
            <a:off x="685800" y="1097280"/>
            <a:ext cx="10817352" cy="6858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Deconstructed Clean Yes/No is a deterministic binary decision framework. Every incoming field in the student onboarding payload is evaluated against a single Yes or No question. The final acceptance decision is the product of all individual checks — not a human opinion.</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74552" cy="914400"/>
        </p:xfrm>
        <a:graphic>
          <a:graphicData uri="http://schemas.openxmlformats.org/drawingml/2006/table">
            <a:tbl>
              <a:tblPr/>
              <a:tblGrid>
                <a:gridCol w="2468880"/>
                <a:gridCol w="5029200"/>
                <a:gridCol w="1883664"/>
                <a:gridCol w="1892808"/>
              </a:tblGrid>
              <a:tr h="457200">
                <a:tc>
                  <a:txBody>
                    <a:bodyPr/>
                    <a:lstStyle/>
                    <a:p>
                      <a:pPr indent="0" marL="0">
                        <a:buNone/>
                      </a:pPr>
                      <a:r>
                        <a:rPr lang="en-US" sz="1100" b="1" dirty="0">
                          <a:solidFill>
                            <a:srgbClr val="FFFFFF"/>
                          </a:solidFill>
                        </a:rPr>
                        <a:t>Field</a:t>
                      </a:r>
                      <a:endParaRPr lang="en-US" sz="110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C3350"/>
                    </a:solidFill>
                  </a:tcPr>
                </a:tc>
                <a:tc>
                  <a:txBody>
                    <a:bodyPr/>
                    <a:lstStyle/>
                    <a:p>
                      <a:pPr indent="0" marL="0">
                        <a:buNone/>
                      </a:pPr>
                      <a:r>
                        <a:rPr lang="en-US" sz="1100" b="1" dirty="0">
                          <a:solidFill>
                            <a:srgbClr val="FFFFFF"/>
                          </a:solidFill>
                        </a:rPr>
                        <a:t>Validation Rule</a:t>
                      </a:r>
                      <a:endParaRPr lang="en-US" sz="110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C3350"/>
                    </a:solidFill>
                  </a:tcPr>
                </a:tc>
                <a:tc>
                  <a:txBody>
                    <a:bodyPr/>
                    <a:lstStyle/>
                    <a:p>
                      <a:pPr indent="0" marL="0">
                        <a:buNone/>
                      </a:pPr>
                      <a:r>
                        <a:rPr lang="en-US" sz="1100" b="1" dirty="0">
                          <a:solidFill>
                            <a:srgbClr val="FFFFFF"/>
                          </a:solidFill>
                        </a:rPr>
                        <a:t>Pass Result</a:t>
                      </a:r>
                      <a:endParaRPr lang="en-US" sz="110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C3350"/>
                    </a:solidFill>
                  </a:tcPr>
                </a:tc>
                <a:tc>
                  <a:txBody>
                    <a:bodyPr/>
                    <a:lstStyle/>
                    <a:p>
                      <a:pPr indent="0" marL="0">
                        <a:buNone/>
                      </a:pPr>
                      <a:r>
                        <a:rPr lang="en-US" sz="1100" b="1" dirty="0">
                          <a:solidFill>
                            <a:srgbClr val="FFFFFF"/>
                          </a:solidFill>
                        </a:rPr>
                        <a:t>Fail Result</a:t>
                      </a:r>
                      <a:endParaRPr lang="en-US" sz="110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C3350"/>
                    </a:solidFill>
                  </a:tcPr>
                </a:tc>
              </a:tr>
              <a:tr h="457200">
                <a:tc>
                  <a:txBody>
                    <a:bodyPr/>
                    <a:lstStyle/>
                    <a:p>
                      <a:pPr indent="0" marL="0">
                        <a:buNone/>
                      </a:pPr>
                      <a:r>
                        <a:rPr lang="en-US" sz="1050" dirty="0">
                          <a:solidFill>
                            <a:srgbClr val="FFFFFF"/>
                          </a:solidFill>
                          <a:latin typeface="Courier New" pitchFamily="34" charset="0"/>
                          <a:ea typeface="Courier New" pitchFamily="34" charset="-122"/>
                          <a:cs typeface="Courier New" pitchFamily="34" charset="-120"/>
                        </a:rPr>
                        <a:t>guardian_consent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50" dirty="0">
                          <a:solidFill>
                            <a:srgbClr val="FFFFFF"/>
                          </a:solidFill>
                        </a:rPr>
                        <a:t>Must equal Boolean True</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algn="ctr" indent="0" marL="0">
                        <a:buNone/>
                      </a:pPr>
                      <a:r>
                        <a:rPr lang="en-US" sz="1050" b="1" dirty="0">
                          <a:solidFill>
                            <a:srgbClr val="00C853"/>
                          </a:solidFill>
                        </a:rPr>
                        <a:t>Yes</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algn="ctr" indent="0" marL="0">
                        <a:buNone/>
                      </a:pPr>
                      <a:r>
                        <a:rPr lang="en-US" sz="1050" b="1" dirty="0">
                          <a:solidFill>
                            <a:srgbClr val="FF1744"/>
                          </a:solidFill>
                        </a:rPr>
                        <a:t>No</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457200">
                <a:tc>
                  <a:txBody>
                    <a:bodyPr/>
                    <a:lstStyle/>
                    <a:p>
                      <a:pPr indent="0" marL="0">
                        <a:buNone/>
                      </a:pPr>
                      <a:r>
                        <a:rPr lang="en-US" sz="1050" dirty="0">
                          <a:solidFill>
                            <a:srgbClr val="FFFFFF"/>
                          </a:solidFill>
                          <a:latin typeface="Courier New" pitchFamily="34" charset="0"/>
                          <a:ea typeface="Courier New" pitchFamily="34" charset="-122"/>
                          <a:cs typeface="Courier New" pitchFamily="34" charset="-120"/>
                        </a:rPr>
                        <a:t>data_sharing_consent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50" dirty="0">
                          <a:solidFill>
                            <a:srgbClr val="FFFFFF"/>
                          </a:solidFill>
                        </a:rPr>
                        <a:t>Must equal Boolean True</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algn="ctr" indent="0" marL="0">
                        <a:buNone/>
                      </a:pPr>
                      <a:r>
                        <a:rPr lang="en-US" sz="1050" b="1" dirty="0">
                          <a:solidFill>
                            <a:srgbClr val="00C853"/>
                          </a:solidFill>
                        </a:rPr>
                        <a:t>Yes</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algn="ctr" indent="0" marL="0">
                        <a:buNone/>
                      </a:pPr>
                      <a:r>
                        <a:rPr lang="en-US" sz="1050" b="1" dirty="0">
                          <a:solidFill>
                            <a:srgbClr val="FF1744"/>
                          </a:solidFill>
                        </a:rPr>
                        <a:t>No</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457200">
                <a:tc>
                  <a:txBody>
                    <a:bodyPr/>
                    <a:lstStyle/>
                    <a:p>
                      <a:pPr indent="0" marL="0">
                        <a:buNone/>
                      </a:pPr>
                      <a:r>
                        <a:rPr lang="en-US" sz="1050" dirty="0">
                          <a:solidFill>
                            <a:srgbClr val="FFFFFF"/>
                          </a:solidFill>
                          <a:latin typeface="Courier New" pitchFamily="34" charset="0"/>
                          <a:ea typeface="Courier New" pitchFamily="34" charset="-122"/>
                          <a:cs typeface="Courier New" pitchFamily="34" charset="-120"/>
                        </a:rPr>
                        <a:t>emergency_contact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50" dirty="0">
                          <a:solidFill>
                            <a:srgbClr val="FFFFFF"/>
                          </a:solidFill>
                        </a:rPr>
                        <a:t>Must be 10 to 15 numeric digits</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algn="ctr" indent="0" marL="0">
                        <a:buNone/>
                      </a:pPr>
                      <a:r>
                        <a:rPr lang="en-US" sz="1050" b="1" dirty="0">
                          <a:solidFill>
                            <a:srgbClr val="00C853"/>
                          </a:solidFill>
                        </a:rPr>
                        <a:t>Yes</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algn="ctr" indent="0" marL="0">
                        <a:buNone/>
                      </a:pPr>
                      <a:r>
                        <a:rPr lang="en-US" sz="1050" b="1" dirty="0">
                          <a:solidFill>
                            <a:srgbClr val="FF1744"/>
                          </a:solidFill>
                        </a:rPr>
                        <a:t>No</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457200">
                <a:tc>
                  <a:txBody>
                    <a:bodyPr/>
                    <a:lstStyle/>
                    <a:p>
                      <a:pPr indent="0" marL="0">
                        <a:buNone/>
                      </a:pPr>
                      <a:r>
                        <a:rPr lang="en-US" sz="1050" dirty="0">
                          <a:solidFill>
                            <a:srgbClr val="FFFFFF"/>
                          </a:solidFill>
                          <a:latin typeface="Courier New" pitchFamily="34" charset="0"/>
                          <a:ea typeface="Courier New" pitchFamily="34" charset="-122"/>
                          <a:cs typeface="Courier New" pitchFamily="34" charset="-120"/>
                        </a:rPr>
                        <a:t>age_band</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50" dirty="0">
                          <a:solidFill>
                            <a:srgbClr val="FFFFFF"/>
                          </a:solidFill>
                        </a:rPr>
                        <a:t>Must be under_13, 13_to_17, or 18_plus</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algn="ctr" indent="0" marL="0">
                        <a:buNone/>
                      </a:pPr>
                      <a:r>
                        <a:rPr lang="en-US" sz="1050" b="1" dirty="0">
                          <a:solidFill>
                            <a:srgbClr val="00C853"/>
                          </a:solidFill>
                        </a:rPr>
                        <a:t>Yes</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algn="ctr" indent="0" marL="0">
                        <a:buNone/>
                      </a:pPr>
                      <a:r>
                        <a:rPr lang="en-US" sz="1050" b="1" dirty="0">
                          <a:solidFill>
                            <a:srgbClr val="FF1744"/>
                          </a:solidFill>
                        </a:rPr>
                        <a:t>No</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r h="457200">
                <a:tc>
                  <a:txBody>
                    <a:bodyPr/>
                    <a:lstStyle/>
                    <a:p>
                      <a:pPr indent="0" marL="0">
                        <a:buNone/>
                      </a:pPr>
                      <a:r>
                        <a:rPr lang="en-US" sz="1050" dirty="0">
                          <a:solidFill>
                            <a:srgbClr val="FFFFFF"/>
                          </a:solidFill>
                          <a:latin typeface="Courier New" pitchFamily="34" charset="0"/>
                          <a:ea typeface="Courier New" pitchFamily="34" charset="-122"/>
                          <a:cs typeface="Courier New" pitchFamily="34" charset="-120"/>
                        </a:rPr>
                        <a:t>learning_difficulty</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indent="0" marL="0">
                        <a:buNone/>
                      </a:pPr>
                      <a:r>
                        <a:rPr lang="en-US" sz="1050" dirty="0">
                          <a:solidFill>
                            <a:srgbClr val="FFFFFF"/>
                          </a:solidFill>
                        </a:rPr>
                        <a:t>Must be an approved category value</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algn="ctr" indent="0" marL="0">
                        <a:buNone/>
                      </a:pPr>
                      <a:r>
                        <a:rPr lang="en-US" sz="1050" b="1" dirty="0">
                          <a:solidFill>
                            <a:srgbClr val="00C853"/>
                          </a:solidFill>
                        </a:rPr>
                        <a:t>Yes</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c>
                  <a:txBody>
                    <a:bodyPr/>
                    <a:lstStyle/>
                    <a:p>
                      <a:pPr algn="ctr" indent="0" marL="0">
                        <a:buNone/>
                      </a:pPr>
                      <a:r>
                        <a:rPr lang="en-US" sz="1050" b="1" dirty="0">
                          <a:solidFill>
                            <a:srgbClr val="FF1744"/>
                          </a:solidFill>
                        </a:rPr>
                        <a:t>No</a:t>
                      </a:r>
                      <a:endParaRPr lang="en-US" sz="1050" dirty="0"/>
                    </a:p>
                  </a:txBody>
                  <a:tcPr marL="91440" marR="91440" marT="45720" marB="45720" anchor="ctr">
                    <a:lnL w="6350" cap="flat" cmpd="sng" algn="ctr">
                      <a:solidFill>
                        <a:srgbClr val="24405F"/>
                      </a:solidFill>
                      <a:prstDash val="solid"/>
                      <a:round/>
                      <a:headEnd type="none" w="med" len="med"/>
                      <a:tailEnd type="none" w="med" len="med"/>
                    </a:lnL>
                    <a:lnR w="6350" cap="flat" cmpd="sng" algn="ctr">
                      <a:solidFill>
                        <a:srgbClr val="24405F"/>
                      </a:solidFill>
                      <a:prstDash val="solid"/>
                      <a:round/>
                      <a:headEnd type="none" w="med" len="med"/>
                      <a:tailEnd type="none" w="med" len="med"/>
                    </a:lnR>
                    <a:lnT w="6350" cap="flat" cmpd="sng" algn="ctr">
                      <a:solidFill>
                        <a:srgbClr val="24405F"/>
                      </a:solidFill>
                      <a:prstDash val="solid"/>
                      <a:round/>
                      <a:headEnd type="none" w="med" len="med"/>
                      <a:tailEnd type="none" w="med" len="med"/>
                    </a:lnT>
                    <a:lnB w="6350" cap="flat" cmpd="sng" algn="ctr">
                      <a:solidFill>
                        <a:srgbClr val="24405F"/>
                      </a:solidFill>
                      <a:prstDash val="solid"/>
                      <a:round/>
                      <a:headEnd type="none" w="med" len="med"/>
                      <a:tailEnd type="none" w="med" len="med"/>
                    </a:lnB>
                    <a:solidFill>
                      <a:srgbClr val="16283D"/>
                    </a:solidFill>
                  </a:tcPr>
                </a:tc>
              </a:tr>
            </a:tbl>
          </a:graphicData>
        </a:graphic>
      </p:graphicFrame>
      <p:sp>
        <p:nvSpPr>
          <p:cNvPr id="9" name="Shape 6"/>
          <p:cNvSpPr/>
          <p:nvPr/>
        </p:nvSpPr>
        <p:spPr>
          <a:xfrm>
            <a:off x="457200" y="4892040"/>
            <a:ext cx="11274552" cy="1005840"/>
          </a:xfrm>
          <a:prstGeom prst="roundRect">
            <a:avLst>
              <a:gd name="adj" fmla="val 5455"/>
            </a:avLst>
          </a:prstGeom>
          <a:solidFill>
            <a:srgbClr val="081119"/>
          </a:solidFill>
          <a:ln w="9525">
            <a:solidFill>
              <a:srgbClr val="1E3A57"/>
            </a:solidFill>
            <a:prstDash val="solid"/>
          </a:ln>
        </p:spPr>
      </p:sp>
      <p:sp>
        <p:nvSpPr>
          <p:cNvPr id="10" name="Text 7"/>
          <p:cNvSpPr txBox="1"/>
          <p:nvPr/>
        </p:nvSpPr>
        <p:spPr>
          <a:xfrm>
            <a:off x="621792" y="5001768"/>
            <a:ext cx="10945368" cy="786384"/>
          </a:xfrm>
          <a:prstGeom prst="rect">
            <a:avLst/>
          </a:prstGeom>
          <a:noFill/>
          <a:ln/>
        </p:spPr>
        <p:txBody>
          <a:bodyPr wrap="square" lIns="0" tIns="0" rIns="0" bIns="0" rtlCol="0" anchor="t"/>
          <a:lstStyle/>
          <a:p>
            <a:pPr algn="l" indent="0" marL="0">
              <a:lnSpc>
                <a:spcPct val="115000"/>
              </a:lnSpc>
              <a:buNone/>
            </a:pPr>
            <a:r>
              <a:rPr lang="en-US" sz="1250" dirty="0">
                <a:solidFill>
                  <a:srgbClr val="DCEEFB"/>
                </a:solidFill>
                <a:latin typeface="Courier New" pitchFamily="34" charset="0"/>
                <a:ea typeface="Courier New" pitchFamily="34" charset="-122"/>
                <a:cs typeface="Courier New" pitchFamily="34" charset="-120"/>
              </a:rPr>
              <a:t>Final Decision = guardian_consent AND data_sharing_consent</a:t>
            </a:r>
            <a:endParaRPr lang="en-US" sz="1250" dirty="0"/>
          </a:p>
          <a:p>
            <a:pPr algn="l" indent="0" marL="0">
              <a:lnSpc>
                <a:spcPct val="115000"/>
              </a:lnSpc>
              <a:buNone/>
            </a:pPr>
            <a:r>
              <a:rPr lang="en-US" sz="1250" dirty="0">
                <a:solidFill>
                  <a:srgbClr val="DCEEFB"/>
                </a:solidFill>
                <a:latin typeface="Courier New" pitchFamily="34" charset="0"/>
                <a:ea typeface="Courier New" pitchFamily="34" charset="-122"/>
                <a:cs typeface="Courier New" pitchFamily="34" charset="-120"/>
              </a:rPr>
              <a:t>                 AND emergency_contact AND age_band</a:t>
            </a:r>
            <a:endParaRPr lang="en-US" sz="1250" dirty="0"/>
          </a:p>
          <a:p>
            <a:pPr algn="l" indent="0" marL="0">
              <a:lnSpc>
                <a:spcPct val="115000"/>
              </a:lnSpc>
              <a:buNone/>
            </a:pPr>
            <a:r>
              <a:rPr lang="en-US" sz="1250" dirty="0">
                <a:solidFill>
                  <a:srgbClr val="DCEEFB"/>
                </a:solidFill>
                <a:latin typeface="Courier New" pitchFamily="34" charset="0"/>
                <a:ea typeface="Courier New" pitchFamily="34" charset="-122"/>
                <a:cs typeface="Courier New" pitchFamily="34" charset="-120"/>
              </a:rPr>
              <a:t>                 AND learning_difficulty</a:t>
            </a:r>
            <a:endParaRPr lang="en-US" sz="1250" dirty="0"/>
          </a:p>
        </p:txBody>
      </p:sp>
      <p:sp>
        <p:nvSpPr>
          <p:cNvPr id="11" name="Text 8"/>
          <p:cNvSpPr txBox="1"/>
          <p:nvPr/>
        </p:nvSpPr>
        <p:spPr>
          <a:xfrm>
            <a:off x="457200" y="5943600"/>
            <a:ext cx="11274552" cy="365760"/>
          </a:xfrm>
          <a:prstGeom prst="rect">
            <a:avLst/>
          </a:prstGeom>
          <a:noFill/>
          <a:ln/>
        </p:spPr>
        <p:txBody>
          <a:bodyPr wrap="square" lIns="0" tIns="0" rIns="0" bIns="0" rtlCol="0" anchor="ctr"/>
          <a:lstStyle/>
          <a:p>
            <a:pPr algn="ctr" indent="0" marL="0">
              <a:buNone/>
            </a:pPr>
            <a:r>
              <a:rPr lang="en-US" sz="1300" b="1" dirty="0">
                <a:solidFill>
                  <a:srgbClr val="00C853"/>
                </a:solidFill>
                <a:latin typeface="Calibri" pitchFamily="34" charset="0"/>
                <a:ea typeface="Calibri" pitchFamily="34" charset="-122"/>
                <a:cs typeface="Calibri" pitchFamily="34" charset="-120"/>
              </a:rPr>
              <a:t>All Yes → </a:t>
            </a:r>
            <a:pPr algn="ctr" indent="0" marL="0">
              <a:buNone/>
            </a:pPr>
            <a:r>
              <a:rPr lang="en-US" sz="1300" dirty="0">
                <a:solidFill>
                  <a:srgbClr val="FFFFFF"/>
                </a:solidFill>
                <a:latin typeface="Calibri" pitchFamily="34" charset="0"/>
                <a:ea typeface="Calibri" pitchFamily="34" charset="-122"/>
                <a:cs typeface="Calibri" pitchFamily="34" charset="-120"/>
              </a:rPr>
              <a:t>Accept (HTTP 201)      </a:t>
            </a:r>
            <a:pPr algn="ctr" indent="0" marL="0">
              <a:buNone/>
            </a:pPr>
            <a:r>
              <a:rPr lang="en-US" sz="1300" b="1" dirty="0">
                <a:solidFill>
                  <a:srgbClr val="FF1744"/>
                </a:solidFill>
                <a:latin typeface="Calibri" pitchFamily="34" charset="0"/>
                <a:ea typeface="Calibri" pitchFamily="34" charset="-122"/>
                <a:cs typeface="Calibri" pitchFamily="34" charset="-120"/>
              </a:rPr>
              <a:t>Any No → </a:t>
            </a:r>
            <a:pPr algn="ctr" indent="0" marL="0">
              <a:buNone/>
            </a:pPr>
            <a:r>
              <a:rPr lang="en-US" sz="1300" dirty="0">
                <a:solidFill>
                  <a:srgbClr val="FFFFFF"/>
                </a:solidFill>
                <a:latin typeface="Calibri" pitchFamily="34" charset="0"/>
                <a:ea typeface="Calibri" pitchFamily="34" charset="-122"/>
                <a:cs typeface="Calibri" pitchFamily="34" charset="-120"/>
              </a:rPr>
              <a:t>Reject (HTTP 400)</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Task 3 — Django REST Framework Serializer: Exact Field Validation with No Human Judgment</a:t>
            </a:r>
            <a:endParaRPr lang="en-US" sz="2500" dirty="0"/>
          </a:p>
        </p:txBody>
      </p:sp>
      <p:sp>
        <p:nvSpPr>
          <p:cNvPr id="6" name="Shape 4"/>
          <p:cNvSpPr/>
          <p:nvPr/>
        </p:nvSpPr>
        <p:spPr>
          <a:xfrm>
            <a:off x="457200" y="1078992"/>
            <a:ext cx="6263640" cy="5212080"/>
          </a:xfrm>
          <a:prstGeom prst="roundRect">
            <a:avLst>
              <a:gd name="adj" fmla="val 1053"/>
            </a:avLst>
          </a:prstGeom>
          <a:solidFill>
            <a:srgbClr val="081119"/>
          </a:solidFill>
          <a:ln w="9525">
            <a:solidFill>
              <a:srgbClr val="1E3A57"/>
            </a:solidFill>
            <a:prstDash val="solid"/>
          </a:ln>
        </p:spPr>
      </p:sp>
      <p:sp>
        <p:nvSpPr>
          <p:cNvPr id="7" name="Text 5"/>
          <p:cNvSpPr txBox="1"/>
          <p:nvPr/>
        </p:nvSpPr>
        <p:spPr>
          <a:xfrm>
            <a:off x="621792" y="1188720"/>
            <a:ext cx="5934456" cy="4992624"/>
          </a:xfrm>
          <a:prstGeom prst="rect">
            <a:avLst/>
          </a:prstGeom>
          <a:noFill/>
          <a:ln/>
        </p:spPr>
        <p:txBody>
          <a:bodyPr wrap="square" lIns="0" tIns="0" rIns="0" bIns="0" rtlCol="0" anchor="t"/>
          <a:lstStyle/>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class StudentOnboardingSerializer(</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serializers.ModelSerializer):</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student_id = serializers.CharField(</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max_length=30, allow_blank=False,</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trim_whitespace=True,</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full_name = serializers.CharField(</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max_length=100, allow_blank=False,</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trim_whitespace=True,</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email = serializers.EmailField(max_length=254)</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guardian_consent = serializers.BooleanField()</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age_band = serializers.CharField(</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max_length=20, allow_blank=False,</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emergency_contact = serializers.CharField(</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max_length=15, allow_blank=False,</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a:t>
            </a:r>
            <a:endParaRPr lang="en-US" sz="1030" dirty="0"/>
          </a:p>
          <a:p>
            <a:pPr algn="l" indent="0" marL="0">
              <a:lnSpc>
                <a:spcPct val="115000"/>
              </a:lnSpc>
              <a:buNone/>
            </a:pPr>
            <a:r>
              <a:rPr lang="en-US" sz="1030" dirty="0">
                <a:solidFill>
                  <a:srgbClr val="DCEEFB"/>
                </a:solidFill>
                <a:latin typeface="Courier New" pitchFamily="34" charset="0"/>
                <a:ea typeface="Courier New" pitchFamily="34" charset="-122"/>
                <a:cs typeface="Courier New" pitchFamily="34" charset="-120"/>
              </a:rPr>
              <a:t>    data_sharing_consent = serializers.BooleanField()</a:t>
            </a:r>
            <a:endParaRPr lang="en-US" sz="1030" dirty="0"/>
          </a:p>
        </p:txBody>
      </p:sp>
      <p:sp>
        <p:nvSpPr>
          <p:cNvPr id="8" name="Text 6"/>
          <p:cNvSpPr txBox="1"/>
          <p:nvPr/>
        </p:nvSpPr>
        <p:spPr>
          <a:xfrm>
            <a:off x="6949440" y="1078992"/>
            <a:ext cx="4782312" cy="320040"/>
          </a:xfrm>
          <a:prstGeom prst="rect">
            <a:avLst/>
          </a:prstGeom>
          <a:noFill/>
          <a:ln/>
        </p:spPr>
        <p:txBody>
          <a:bodyPr wrap="square" lIns="0" tIns="0" rIns="0" bIns="0" rtlCol="0" anchor="ctr"/>
          <a:lstStyle/>
          <a:p>
            <a:pPr indent="0" marL="0">
              <a:buNone/>
            </a:pPr>
            <a:r>
              <a:rPr lang="en-US" sz="1400" b="1" dirty="0">
                <a:solidFill>
                  <a:srgbClr val="00AEEF"/>
                </a:solidFill>
                <a:latin typeface="Calibri" pitchFamily="34" charset="0"/>
                <a:ea typeface="Calibri" pitchFamily="34" charset="-122"/>
                <a:cs typeface="Calibri" pitchFamily="34" charset="-120"/>
              </a:rPr>
              <a:t>Key Engineering Decisions</a:t>
            </a:r>
            <a:endParaRPr lang="en-US" sz="1400" dirty="0"/>
          </a:p>
        </p:txBody>
      </p:sp>
      <p:sp>
        <p:nvSpPr>
          <p:cNvPr id="9" name="Text 7"/>
          <p:cNvSpPr txBox="1"/>
          <p:nvPr/>
        </p:nvSpPr>
        <p:spPr>
          <a:xfrm>
            <a:off x="6949440" y="1463040"/>
            <a:ext cx="4782312" cy="4754880"/>
          </a:xfrm>
          <a:prstGeom prst="rect">
            <a:avLst/>
          </a:prstGeom>
          <a:noFill/>
          <a:ln/>
        </p:spPr>
        <p:txBody>
          <a:bodyPr wrap="square" lIns="50800" tIns="50800" rIns="50800" bIns="50800" rtlCol="0" anchor="t"/>
          <a:lstStyle/>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allow_blank=False: empty strings cannot bypass validation</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trim_whitespace=True: whitespace-only values are rejected</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max_length: prevents buffer overflow and database constraint violations</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BooleanField: accepts only True or False, not truthy strings</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EmailField: enforces RFC-compliant electronic mail address format</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Custom validate() calls the Deconstructed Clean Yes/No library as the final gate before acceptance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Task 3 — Google Cloud Pub/Sub to BigQuery Streaming: Schema Contract and Zero Data Loss</a:t>
            </a:r>
            <a:endParaRPr lang="en-US" sz="2500" dirty="0"/>
          </a:p>
        </p:txBody>
      </p:sp>
      <p:sp>
        <p:nvSpPr>
          <p:cNvPr id="6" name="Shape 4"/>
          <p:cNvSpPr/>
          <p:nvPr/>
        </p:nvSpPr>
        <p:spPr>
          <a:xfrm>
            <a:off x="457200" y="1078992"/>
            <a:ext cx="6400800" cy="548640"/>
          </a:xfrm>
          <a:prstGeom prst="roundRect">
            <a:avLst>
              <a:gd name="adj" fmla="val 10000"/>
            </a:avLst>
          </a:prstGeom>
          <a:solidFill>
            <a:srgbClr val="16283D"/>
          </a:solidFill>
          <a:ln w="9525">
            <a:solidFill>
              <a:srgbClr val="24405F"/>
            </a:solidFill>
            <a:prstDash val="solid"/>
          </a:ln>
        </p:spPr>
      </p:sp>
      <p:sp>
        <p:nvSpPr>
          <p:cNvPr id="7" name="Text 5"/>
          <p:cNvSpPr txBox="1"/>
          <p:nvPr/>
        </p:nvSpPr>
        <p:spPr>
          <a:xfrm>
            <a:off x="640080" y="1078992"/>
            <a:ext cx="6035040" cy="548640"/>
          </a:xfrm>
          <a:prstGeom prst="rect">
            <a:avLst/>
          </a:prstGeom>
          <a:noFill/>
          <a:ln/>
        </p:spPr>
        <p:txBody>
          <a:bodyPr wrap="square" lIns="25400" tIns="25400" rIns="25400" bIns="25400" rtlCol="0" anchor="ctr"/>
          <a:lstStyle/>
          <a:p>
            <a:pPr algn="l" indent="0" marL="0">
              <a:lnSpc>
                <a:spcPct val="105000"/>
              </a:lnSpc>
              <a:buNone/>
            </a:pPr>
            <a:r>
              <a:rPr lang="en-US" sz="950" dirty="0">
                <a:solidFill>
                  <a:srgbClr val="FFFFFF"/>
                </a:solidFill>
                <a:latin typeface="Courier New" pitchFamily="34" charset="0"/>
                <a:ea typeface="Courier New" pitchFamily="34" charset="-122"/>
                <a:cs typeface="Courier New" pitchFamily="34" charset="-120"/>
              </a:rPr>
              <a:t>Django validates data</a:t>
            </a:r>
            <a:endParaRPr lang="en-US" sz="950" dirty="0"/>
          </a:p>
        </p:txBody>
      </p:sp>
      <p:sp>
        <p:nvSpPr>
          <p:cNvPr id="8" name="Shape 6"/>
          <p:cNvSpPr/>
          <p:nvPr/>
        </p:nvSpPr>
        <p:spPr>
          <a:xfrm>
            <a:off x="3520440" y="1627632"/>
            <a:ext cx="274320" cy="123444"/>
          </a:xfrm>
          <a:prstGeom prst="downArrow">
            <a:avLst/>
          </a:prstGeom>
          <a:solidFill>
            <a:srgbClr val="00AEEF"/>
          </a:solidFill>
          <a:ln/>
        </p:spPr>
      </p:sp>
      <p:sp>
        <p:nvSpPr>
          <p:cNvPr id="9" name="Shape 7"/>
          <p:cNvSpPr/>
          <p:nvPr/>
        </p:nvSpPr>
        <p:spPr>
          <a:xfrm>
            <a:off x="457200" y="1769364"/>
            <a:ext cx="6400800" cy="548640"/>
          </a:xfrm>
          <a:prstGeom prst="roundRect">
            <a:avLst>
              <a:gd name="adj" fmla="val 10000"/>
            </a:avLst>
          </a:prstGeom>
          <a:solidFill>
            <a:srgbClr val="16283D"/>
          </a:solidFill>
          <a:ln w="9525">
            <a:solidFill>
              <a:srgbClr val="24405F"/>
            </a:solidFill>
            <a:prstDash val="solid"/>
          </a:ln>
        </p:spPr>
      </p:sp>
      <p:sp>
        <p:nvSpPr>
          <p:cNvPr id="10" name="Text 8"/>
          <p:cNvSpPr txBox="1"/>
          <p:nvPr/>
        </p:nvSpPr>
        <p:spPr>
          <a:xfrm>
            <a:off x="640080" y="1769364"/>
            <a:ext cx="6035040" cy="548640"/>
          </a:xfrm>
          <a:prstGeom prst="rect">
            <a:avLst/>
          </a:prstGeom>
          <a:noFill/>
          <a:ln/>
        </p:spPr>
        <p:txBody>
          <a:bodyPr wrap="square" lIns="25400" tIns="25400" rIns="25400" bIns="25400" rtlCol="0" anchor="ctr"/>
          <a:lstStyle/>
          <a:p>
            <a:pPr algn="l" indent="0" marL="0">
              <a:lnSpc>
                <a:spcPct val="105000"/>
              </a:lnSpc>
              <a:buNone/>
            </a:pPr>
            <a:r>
              <a:rPr lang="en-US" sz="950" dirty="0">
                <a:solidFill>
                  <a:srgbClr val="FFFFFF"/>
                </a:solidFill>
                <a:latin typeface="Courier New" pitchFamily="34" charset="0"/>
                <a:ea typeface="Courier New" pitchFamily="34" charset="-122"/>
                <a:cs typeface="Courier New" pitchFamily="34" charset="-120"/>
              </a:rPr>
              <a:t>datetime.now(timezone.utc).isoformat()</a:t>
            </a:r>
            <a:endParaRPr lang="en-US" sz="950" dirty="0"/>
          </a:p>
          <a:p>
            <a:pPr algn="l" indent="0" marL="0">
              <a:lnSpc>
                <a:spcPct val="105000"/>
              </a:lnSpc>
              <a:buNone/>
            </a:pPr>
            <a:r>
              <a:rPr lang="en-US" sz="950" dirty="0">
                <a:solidFill>
                  <a:srgbClr val="FFFFFF"/>
                </a:solidFill>
                <a:latin typeface="Courier New" pitchFamily="34" charset="0"/>
                <a:ea typeface="Courier New" pitchFamily="34" charset="-122"/>
                <a:cs typeface="Courier New" pitchFamily="34" charset="-120"/>
              </a:rPr>
              <a:t>converts Python datetime to ISO-8601 string for JSON serialization</a:t>
            </a:r>
            <a:endParaRPr lang="en-US" sz="950" dirty="0"/>
          </a:p>
        </p:txBody>
      </p:sp>
      <p:sp>
        <p:nvSpPr>
          <p:cNvPr id="11" name="Shape 9"/>
          <p:cNvSpPr/>
          <p:nvPr/>
        </p:nvSpPr>
        <p:spPr>
          <a:xfrm>
            <a:off x="3520440" y="2318004"/>
            <a:ext cx="274320" cy="123444"/>
          </a:xfrm>
          <a:prstGeom prst="downArrow">
            <a:avLst/>
          </a:prstGeom>
          <a:solidFill>
            <a:srgbClr val="00AEEF"/>
          </a:solidFill>
          <a:ln/>
        </p:spPr>
      </p:sp>
      <p:sp>
        <p:nvSpPr>
          <p:cNvPr id="12" name="Shape 10"/>
          <p:cNvSpPr/>
          <p:nvPr/>
        </p:nvSpPr>
        <p:spPr>
          <a:xfrm>
            <a:off x="457200" y="2459736"/>
            <a:ext cx="6400800" cy="548640"/>
          </a:xfrm>
          <a:prstGeom prst="roundRect">
            <a:avLst>
              <a:gd name="adj" fmla="val 10000"/>
            </a:avLst>
          </a:prstGeom>
          <a:solidFill>
            <a:srgbClr val="16283D"/>
          </a:solidFill>
          <a:ln w="9525">
            <a:solidFill>
              <a:srgbClr val="24405F"/>
            </a:solidFill>
            <a:prstDash val="solid"/>
          </a:ln>
        </p:spPr>
      </p:sp>
      <p:sp>
        <p:nvSpPr>
          <p:cNvPr id="13" name="Text 11"/>
          <p:cNvSpPr txBox="1"/>
          <p:nvPr/>
        </p:nvSpPr>
        <p:spPr>
          <a:xfrm>
            <a:off x="640080" y="2459736"/>
            <a:ext cx="6035040" cy="548640"/>
          </a:xfrm>
          <a:prstGeom prst="rect">
            <a:avLst/>
          </a:prstGeom>
          <a:noFill/>
          <a:ln/>
        </p:spPr>
        <p:txBody>
          <a:bodyPr wrap="square" lIns="25400" tIns="25400" rIns="25400" bIns="25400" rtlCol="0" anchor="ctr"/>
          <a:lstStyle/>
          <a:p>
            <a:pPr algn="l" indent="0" marL="0">
              <a:lnSpc>
                <a:spcPct val="105000"/>
              </a:lnSpc>
              <a:buNone/>
            </a:pPr>
            <a:r>
              <a:rPr lang="en-US" sz="950" dirty="0">
                <a:solidFill>
                  <a:srgbClr val="FFFFFF"/>
                </a:solidFill>
                <a:latin typeface="Courier New" pitchFamily="34" charset="0"/>
                <a:ea typeface="Courier New" pitchFamily="34" charset="-122"/>
                <a:cs typeface="Courier New" pitchFamily="34" charset="-120"/>
              </a:rPr>
              <a:t>json.dumps(message).encode("utf-8")</a:t>
            </a:r>
            <a:endParaRPr lang="en-US" sz="950" dirty="0"/>
          </a:p>
        </p:txBody>
      </p:sp>
      <p:sp>
        <p:nvSpPr>
          <p:cNvPr id="14" name="Shape 12"/>
          <p:cNvSpPr/>
          <p:nvPr/>
        </p:nvSpPr>
        <p:spPr>
          <a:xfrm>
            <a:off x="3520440" y="3008376"/>
            <a:ext cx="274320" cy="123444"/>
          </a:xfrm>
          <a:prstGeom prst="downArrow">
            <a:avLst/>
          </a:prstGeom>
          <a:solidFill>
            <a:srgbClr val="00AEEF"/>
          </a:solidFill>
          <a:ln/>
        </p:spPr>
      </p:sp>
      <p:sp>
        <p:nvSpPr>
          <p:cNvPr id="15" name="Shape 13"/>
          <p:cNvSpPr/>
          <p:nvPr/>
        </p:nvSpPr>
        <p:spPr>
          <a:xfrm>
            <a:off x="457200" y="3150108"/>
            <a:ext cx="6400800" cy="548640"/>
          </a:xfrm>
          <a:prstGeom prst="roundRect">
            <a:avLst>
              <a:gd name="adj" fmla="val 10000"/>
            </a:avLst>
          </a:prstGeom>
          <a:solidFill>
            <a:srgbClr val="16283D"/>
          </a:solidFill>
          <a:ln w="9525">
            <a:solidFill>
              <a:srgbClr val="24405F"/>
            </a:solidFill>
            <a:prstDash val="solid"/>
          </a:ln>
        </p:spPr>
      </p:sp>
      <p:sp>
        <p:nvSpPr>
          <p:cNvPr id="16" name="Text 14"/>
          <p:cNvSpPr txBox="1"/>
          <p:nvPr/>
        </p:nvSpPr>
        <p:spPr>
          <a:xfrm>
            <a:off x="640080" y="3150108"/>
            <a:ext cx="6035040" cy="548640"/>
          </a:xfrm>
          <a:prstGeom prst="rect">
            <a:avLst/>
          </a:prstGeom>
          <a:noFill/>
          <a:ln/>
        </p:spPr>
        <p:txBody>
          <a:bodyPr wrap="square" lIns="25400" tIns="25400" rIns="25400" bIns="25400" rtlCol="0" anchor="ctr"/>
          <a:lstStyle/>
          <a:p>
            <a:pPr algn="l" indent="0" marL="0">
              <a:lnSpc>
                <a:spcPct val="105000"/>
              </a:lnSpc>
              <a:buNone/>
            </a:pPr>
            <a:r>
              <a:rPr lang="en-US" sz="950" dirty="0">
                <a:solidFill>
                  <a:srgbClr val="FFFFFF"/>
                </a:solidFill>
                <a:latin typeface="Courier New" pitchFamily="34" charset="0"/>
                <a:ea typeface="Courier New" pitchFamily="34" charset="-122"/>
                <a:cs typeface="Courier New" pitchFamily="34" charset="-120"/>
              </a:rPr>
              <a:t>publisher.publish(topic_path, message_bytes)</a:t>
            </a:r>
            <a:endParaRPr lang="en-US" sz="950" dirty="0"/>
          </a:p>
        </p:txBody>
      </p:sp>
      <p:sp>
        <p:nvSpPr>
          <p:cNvPr id="17" name="Shape 15"/>
          <p:cNvSpPr/>
          <p:nvPr/>
        </p:nvSpPr>
        <p:spPr>
          <a:xfrm>
            <a:off x="3520440" y="3698748"/>
            <a:ext cx="274320" cy="123444"/>
          </a:xfrm>
          <a:prstGeom prst="downArrow">
            <a:avLst/>
          </a:prstGeom>
          <a:solidFill>
            <a:srgbClr val="00AEEF"/>
          </a:solidFill>
          <a:ln/>
        </p:spPr>
      </p:sp>
      <p:sp>
        <p:nvSpPr>
          <p:cNvPr id="18" name="Shape 16"/>
          <p:cNvSpPr/>
          <p:nvPr/>
        </p:nvSpPr>
        <p:spPr>
          <a:xfrm>
            <a:off x="457200" y="3840480"/>
            <a:ext cx="6400800" cy="548640"/>
          </a:xfrm>
          <a:prstGeom prst="roundRect">
            <a:avLst>
              <a:gd name="adj" fmla="val 10000"/>
            </a:avLst>
          </a:prstGeom>
          <a:solidFill>
            <a:srgbClr val="16283D"/>
          </a:solidFill>
          <a:ln w="9525">
            <a:solidFill>
              <a:srgbClr val="24405F"/>
            </a:solidFill>
            <a:prstDash val="solid"/>
          </a:ln>
        </p:spPr>
      </p:sp>
      <p:sp>
        <p:nvSpPr>
          <p:cNvPr id="19" name="Text 17"/>
          <p:cNvSpPr txBox="1"/>
          <p:nvPr/>
        </p:nvSpPr>
        <p:spPr>
          <a:xfrm>
            <a:off x="640080" y="3840480"/>
            <a:ext cx="6035040" cy="548640"/>
          </a:xfrm>
          <a:prstGeom prst="rect">
            <a:avLst/>
          </a:prstGeom>
          <a:noFill/>
          <a:ln/>
        </p:spPr>
        <p:txBody>
          <a:bodyPr wrap="square" lIns="25400" tIns="25400" rIns="25400" bIns="25400" rtlCol="0" anchor="ctr"/>
          <a:lstStyle/>
          <a:p>
            <a:pPr algn="l" indent="0" marL="0">
              <a:lnSpc>
                <a:spcPct val="105000"/>
              </a:lnSpc>
              <a:buNone/>
            </a:pPr>
            <a:r>
              <a:rPr lang="en-US" sz="950" dirty="0">
                <a:solidFill>
                  <a:srgbClr val="FFFFFF"/>
                </a:solidFill>
                <a:latin typeface="Courier New" pitchFamily="34" charset="0"/>
                <a:ea typeface="Courier New" pitchFamily="34" charset="-122"/>
                <a:cs typeface="Courier New" pitchFamily="34" charset="-120"/>
              </a:rPr>
              <a:t>Google Cloud Pub/Sub Topic</a:t>
            </a:r>
            <a:endParaRPr lang="en-US" sz="950" dirty="0"/>
          </a:p>
          <a:p>
            <a:pPr algn="l" indent="0" marL="0">
              <a:lnSpc>
                <a:spcPct val="105000"/>
              </a:lnSpc>
              <a:buNone/>
            </a:pPr>
            <a:r>
              <a:rPr lang="en-US" sz="950" dirty="0">
                <a:solidFill>
                  <a:srgbClr val="FFFFFF"/>
                </a:solidFill>
                <a:latin typeface="Courier New" pitchFamily="34" charset="0"/>
                <a:ea typeface="Courier New" pitchFamily="34" charset="-122"/>
                <a:cs typeface="Courier New" pitchFamily="34" charset="-120"/>
              </a:rPr>
              <a:t>AVRO schema enforced: student-onboarding-schema</a:t>
            </a:r>
            <a:endParaRPr lang="en-US" sz="950" dirty="0"/>
          </a:p>
        </p:txBody>
      </p:sp>
      <p:sp>
        <p:nvSpPr>
          <p:cNvPr id="20" name="Shape 18"/>
          <p:cNvSpPr/>
          <p:nvPr/>
        </p:nvSpPr>
        <p:spPr>
          <a:xfrm>
            <a:off x="3520440" y="4389120"/>
            <a:ext cx="274320" cy="123444"/>
          </a:xfrm>
          <a:prstGeom prst="downArrow">
            <a:avLst/>
          </a:prstGeom>
          <a:solidFill>
            <a:srgbClr val="00AEEF"/>
          </a:solidFill>
          <a:ln/>
        </p:spPr>
      </p:sp>
      <p:sp>
        <p:nvSpPr>
          <p:cNvPr id="21" name="Shape 19"/>
          <p:cNvSpPr/>
          <p:nvPr/>
        </p:nvSpPr>
        <p:spPr>
          <a:xfrm>
            <a:off x="457200" y="4530852"/>
            <a:ext cx="6400800" cy="548640"/>
          </a:xfrm>
          <a:prstGeom prst="roundRect">
            <a:avLst>
              <a:gd name="adj" fmla="val 10000"/>
            </a:avLst>
          </a:prstGeom>
          <a:solidFill>
            <a:srgbClr val="16283D"/>
          </a:solidFill>
          <a:ln w="9525">
            <a:solidFill>
              <a:srgbClr val="24405F"/>
            </a:solidFill>
            <a:prstDash val="solid"/>
          </a:ln>
        </p:spPr>
      </p:sp>
      <p:sp>
        <p:nvSpPr>
          <p:cNvPr id="22" name="Text 20"/>
          <p:cNvSpPr txBox="1"/>
          <p:nvPr/>
        </p:nvSpPr>
        <p:spPr>
          <a:xfrm>
            <a:off x="640080" y="4530852"/>
            <a:ext cx="6035040" cy="548640"/>
          </a:xfrm>
          <a:prstGeom prst="rect">
            <a:avLst/>
          </a:prstGeom>
          <a:noFill/>
          <a:ln/>
        </p:spPr>
        <p:txBody>
          <a:bodyPr wrap="square" lIns="25400" tIns="25400" rIns="25400" bIns="25400" rtlCol="0" anchor="ctr"/>
          <a:lstStyle/>
          <a:p>
            <a:pPr algn="l" indent="0" marL="0">
              <a:lnSpc>
                <a:spcPct val="105000"/>
              </a:lnSpc>
              <a:buNone/>
            </a:pPr>
            <a:r>
              <a:rPr lang="en-US" sz="950" dirty="0">
                <a:solidFill>
                  <a:srgbClr val="FFFFFF"/>
                </a:solidFill>
                <a:latin typeface="Courier New" pitchFamily="34" charset="0"/>
                <a:ea typeface="Courier New" pitchFamily="34" charset="-122"/>
                <a:cs typeface="Courier New" pitchFamily="34" charset="-120"/>
              </a:rPr>
              <a:t>student-onboarding-bigquery Subscription</a:t>
            </a:r>
            <a:endParaRPr lang="en-US" sz="950" dirty="0"/>
          </a:p>
          <a:p>
            <a:pPr algn="l" indent="0" marL="0">
              <a:lnSpc>
                <a:spcPct val="105000"/>
              </a:lnSpc>
              <a:buNone/>
            </a:pPr>
            <a:r>
              <a:rPr lang="en-US" sz="950" dirty="0">
                <a:solidFill>
                  <a:srgbClr val="FFFFFF"/>
                </a:solidFill>
                <a:latin typeface="Courier New" pitchFamily="34" charset="0"/>
                <a:ea typeface="Courier New" pitchFamily="34" charset="-122"/>
                <a:cs typeface="Courier New" pitchFamily="34" charset="-120"/>
              </a:rPr>
              <a:t>BigQuery Direct Subscription, useTopicSchema=true</a:t>
            </a:r>
            <a:endParaRPr lang="en-US" sz="950" dirty="0"/>
          </a:p>
        </p:txBody>
      </p:sp>
      <p:sp>
        <p:nvSpPr>
          <p:cNvPr id="23" name="Shape 21"/>
          <p:cNvSpPr/>
          <p:nvPr/>
        </p:nvSpPr>
        <p:spPr>
          <a:xfrm>
            <a:off x="3520440" y="5079492"/>
            <a:ext cx="274320" cy="123444"/>
          </a:xfrm>
          <a:prstGeom prst="downArrow">
            <a:avLst/>
          </a:prstGeom>
          <a:solidFill>
            <a:srgbClr val="00AEEF"/>
          </a:solidFill>
          <a:ln/>
        </p:spPr>
      </p:sp>
      <p:sp>
        <p:nvSpPr>
          <p:cNvPr id="24" name="Shape 22"/>
          <p:cNvSpPr/>
          <p:nvPr/>
        </p:nvSpPr>
        <p:spPr>
          <a:xfrm>
            <a:off x="457200" y="5221224"/>
            <a:ext cx="6400800" cy="548640"/>
          </a:xfrm>
          <a:prstGeom prst="roundRect">
            <a:avLst>
              <a:gd name="adj" fmla="val 10000"/>
            </a:avLst>
          </a:prstGeom>
          <a:solidFill>
            <a:srgbClr val="16283D"/>
          </a:solidFill>
          <a:ln w="9525">
            <a:solidFill>
              <a:srgbClr val="24405F"/>
            </a:solidFill>
            <a:prstDash val="solid"/>
          </a:ln>
        </p:spPr>
      </p:sp>
      <p:sp>
        <p:nvSpPr>
          <p:cNvPr id="25" name="Text 23"/>
          <p:cNvSpPr txBox="1"/>
          <p:nvPr/>
        </p:nvSpPr>
        <p:spPr>
          <a:xfrm>
            <a:off x="640080" y="5221224"/>
            <a:ext cx="6035040" cy="548640"/>
          </a:xfrm>
          <a:prstGeom prst="rect">
            <a:avLst/>
          </a:prstGeom>
          <a:noFill/>
          <a:ln/>
        </p:spPr>
        <p:txBody>
          <a:bodyPr wrap="square" lIns="25400" tIns="25400" rIns="25400" bIns="25400" rtlCol="0" anchor="ctr"/>
          <a:lstStyle/>
          <a:p>
            <a:pPr algn="l" indent="0" marL="0">
              <a:lnSpc>
                <a:spcPct val="105000"/>
              </a:lnSpc>
              <a:buNone/>
            </a:pPr>
            <a:r>
              <a:rPr lang="en-US" sz="950" dirty="0">
                <a:solidFill>
                  <a:srgbClr val="FFFFFF"/>
                </a:solidFill>
                <a:latin typeface="Courier New" pitchFamily="34" charset="0"/>
                <a:ea typeface="Courier New" pitchFamily="34" charset="-122"/>
                <a:cs typeface="Courier New" pitchFamily="34" charset="-120"/>
              </a:rPr>
              <a:t>BigQuery D1 student_onboarding table</a:t>
            </a:r>
            <a:endParaRPr lang="en-US" sz="950" dirty="0"/>
          </a:p>
        </p:txBody>
      </p:sp>
      <p:sp>
        <p:nvSpPr>
          <p:cNvPr id="26" name="Text 24"/>
          <p:cNvSpPr txBox="1"/>
          <p:nvPr/>
        </p:nvSpPr>
        <p:spPr>
          <a:xfrm>
            <a:off x="7178040" y="1078992"/>
            <a:ext cx="4553712" cy="320040"/>
          </a:xfrm>
          <a:prstGeom prst="rect">
            <a:avLst/>
          </a:prstGeom>
          <a:noFill/>
          <a:ln/>
        </p:spPr>
        <p:txBody>
          <a:bodyPr wrap="square" lIns="0" tIns="0" rIns="0" bIns="0" rtlCol="0" anchor="ctr"/>
          <a:lstStyle/>
          <a:p>
            <a:pPr indent="0" marL="0">
              <a:buNone/>
            </a:pPr>
            <a:r>
              <a:rPr lang="en-US" sz="1400" b="1" dirty="0">
                <a:solidFill>
                  <a:srgbClr val="00AEEF"/>
                </a:solidFill>
                <a:latin typeface="Calibri" pitchFamily="34" charset="0"/>
                <a:ea typeface="Calibri" pitchFamily="34" charset="-122"/>
                <a:cs typeface="Calibri" pitchFamily="34" charset="-120"/>
              </a:rPr>
              <a:t>Key Engineering Decisions</a:t>
            </a:r>
            <a:endParaRPr lang="en-US" sz="1400" dirty="0"/>
          </a:p>
        </p:txBody>
      </p:sp>
      <p:sp>
        <p:nvSpPr>
          <p:cNvPr id="27" name="Text 25"/>
          <p:cNvSpPr txBox="1"/>
          <p:nvPr/>
        </p:nvSpPr>
        <p:spPr>
          <a:xfrm>
            <a:off x="7178040" y="1463040"/>
            <a:ext cx="4553712" cy="4754880"/>
          </a:xfrm>
          <a:prstGeom prst="rect">
            <a:avLst/>
          </a:prstGeom>
          <a:noFill/>
          <a:ln/>
        </p:spPr>
        <p:txBody>
          <a:bodyPr wrap="square" lIns="50800" tIns="50800" rIns="50800" bIns="50800" rtlCol="0" anchor="t"/>
          <a:lstStyle/>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created_at uses .isoformat() to prevent json.dumps TypeError on raw Python datetime objects</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AVRO schema validates message structure before writing to BigQuery</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use_topic_schema = true ensures every message matches the enforced contract</a:t>
            </a:r>
            <a:endParaRPr lang="en-US" sz="1250" dirty="0"/>
          </a:p>
          <a:p>
            <a:pPr algn="l" marL="177800" indent="-177800">
              <a:lnSpc>
                <a:spcPct val="108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drop_unknown_fields = false ensures no silent data loss from schema mismatches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0" y="6528816"/>
            <a:ext cx="12191695" cy="256032"/>
          </a:xfrm>
          <a:prstGeom prst="rect">
            <a:avLst/>
          </a:prstGeom>
          <a:noFill/>
          <a:ln/>
        </p:spPr>
        <p:txBody>
          <a:bodyPr wrap="square" lIns="0" tIns="0" rIns="0" bIns="0" rtlCol="0" anchor="ctr"/>
          <a:lstStyle/>
          <a:p>
            <a:pPr algn="ctr" indent="0" marL="0">
              <a:buNone/>
            </a:pPr>
            <a:r>
              <a:rPr lang="en-US" sz="900" dirty="0">
                <a:solidFill>
                  <a:srgbClr val="8FA3B8"/>
                </a:solidFill>
                <a:latin typeface="Calibri" pitchFamily="34" charset="0"/>
                <a:ea typeface="Calibri" pitchFamily="34" charset="-122"/>
                <a:cs typeface="Calibri" pitchFamily="34" charset="-120"/>
              </a:rPr>
              <a:t>Dipak Shimpi   |   shimpidipak81@gmail.com</a:t>
            </a:r>
            <a:endParaRPr lang="en-US" sz="900" dirty="0"/>
          </a:p>
        </p:txBody>
      </p:sp>
      <p:sp>
        <p:nvSpPr>
          <p:cNvPr id="5" name="Text 3"/>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End-to-End Verification — Live Pipeline Confirmed Working in Production</a:t>
            </a:r>
            <a:endParaRPr lang="en-US" sz="2500" dirty="0"/>
          </a:p>
        </p:txBody>
      </p:sp>
      <p:pic>
        <p:nvPicPr>
          <p:cNvPr id="6" name="Image 0" descr="/mnt/user-data/uploads/1789235397637_image.png">    </p:cNvPr>
          <p:cNvPicPr>
            <a:picLocks noChangeAspect="1"/>
          </p:cNvPicPr>
          <p:nvPr/>
        </p:nvPicPr>
        <p:blipFill>
          <a:blip r:embed="rId1"/>
          <a:stretch>
            <a:fillRect/>
          </a:stretch>
        </p:blipFill>
        <p:spPr>
          <a:xfrm>
            <a:off x="457200" y="1051560"/>
            <a:ext cx="6035040" cy="3130263"/>
          </a:xfrm>
          <a:prstGeom prst="rect">
            <a:avLst/>
          </a:prstGeom>
        </p:spPr>
      </p:pic>
      <p:sp>
        <p:nvSpPr>
          <p:cNvPr id="7" name="Shape 4"/>
          <p:cNvSpPr/>
          <p:nvPr/>
        </p:nvSpPr>
        <p:spPr>
          <a:xfrm>
            <a:off x="457200" y="1051560"/>
            <a:ext cx="6035040" cy="3130263"/>
          </a:xfrm>
          <a:prstGeom prst="roundRect">
            <a:avLst>
              <a:gd name="adj" fmla="val 876"/>
            </a:avLst>
          </a:prstGeom>
          <a:ln w="15875">
            <a:solidFill>
              <a:srgbClr val="00C853"/>
            </a:solidFill>
            <a:prstDash val="solid"/>
          </a:ln>
        </p:spPr>
      </p:sp>
      <p:sp>
        <p:nvSpPr>
          <p:cNvPr id="8" name="Shape 5"/>
          <p:cNvSpPr/>
          <p:nvPr/>
        </p:nvSpPr>
        <p:spPr>
          <a:xfrm>
            <a:off x="6720840" y="1051560"/>
            <a:ext cx="5010912" cy="3130263"/>
          </a:xfrm>
          <a:prstGeom prst="roundRect">
            <a:avLst>
              <a:gd name="adj" fmla="val 2337"/>
            </a:avLst>
          </a:prstGeom>
          <a:solidFill>
            <a:srgbClr val="16283D"/>
          </a:solidFill>
          <a:ln w="12700">
            <a:solidFill>
              <a:srgbClr val="00C853"/>
            </a:solidFill>
            <a:prstDash val="solid"/>
          </a:ln>
        </p:spPr>
      </p:sp>
      <p:sp>
        <p:nvSpPr>
          <p:cNvPr id="9" name="Text 6"/>
          <p:cNvSpPr txBox="1"/>
          <p:nvPr/>
        </p:nvSpPr>
        <p:spPr>
          <a:xfrm>
            <a:off x="6903720" y="1188720"/>
            <a:ext cx="4663440" cy="274320"/>
          </a:xfrm>
          <a:prstGeom prst="rect">
            <a:avLst/>
          </a:prstGeom>
          <a:noFill/>
          <a:ln/>
        </p:spPr>
        <p:txBody>
          <a:bodyPr wrap="square" lIns="0" tIns="0" rIns="0" bIns="0" rtlCol="0" anchor="ctr"/>
          <a:lstStyle/>
          <a:p>
            <a:pPr indent="0" marL="0">
              <a:buNone/>
            </a:pPr>
            <a:r>
              <a:rPr lang="en-US" sz="850" dirty="0">
                <a:solidFill>
                  <a:srgbClr val="8FA3B8"/>
                </a:solidFill>
                <a:latin typeface="Courier New" pitchFamily="34" charset="0"/>
                <a:ea typeface="Courier New" pitchFamily="34" charset="-122"/>
                <a:cs typeface="Courier New" pitchFamily="34" charset="-120"/>
              </a:rPr>
              <a:t>message                       student_id  dcyn_decision</a:t>
            </a:r>
            <a:endParaRPr lang="en-US" sz="850" dirty="0"/>
          </a:p>
        </p:txBody>
      </p:sp>
      <p:sp>
        <p:nvSpPr>
          <p:cNvPr id="10" name="Text 7"/>
          <p:cNvSpPr txBox="1"/>
          <p:nvPr/>
        </p:nvSpPr>
        <p:spPr>
          <a:xfrm>
            <a:off x="6903720" y="1481328"/>
            <a:ext cx="4663440" cy="274320"/>
          </a:xfrm>
          <a:prstGeom prst="rect">
            <a:avLst/>
          </a:prstGeom>
          <a:noFill/>
          <a:ln/>
        </p:spPr>
        <p:txBody>
          <a:bodyPr wrap="square" lIns="0" tIns="0" rIns="0" bIns="0" rtlCol="0" anchor="ctr"/>
          <a:lstStyle/>
          <a:p>
            <a:pPr indent="0" marL="0">
              <a:buNone/>
            </a:pPr>
            <a:r>
              <a:rPr lang="en-US" sz="850" b="1" dirty="0">
                <a:solidFill>
                  <a:srgbClr val="00C853"/>
                </a:solidFill>
                <a:latin typeface="Courier New" pitchFamily="34" charset="0"/>
                <a:ea typeface="Courier New" pitchFamily="34" charset="-122"/>
                <a:cs typeface="Courier New" pitchFamily="34" charset="-120"/>
              </a:rPr>
              <a:t>Student onboarding accepted.  STU008      Yes</a:t>
            </a:r>
            <a:endParaRPr lang="en-US" sz="850" dirty="0"/>
          </a:p>
        </p:txBody>
      </p:sp>
      <p:sp>
        <p:nvSpPr>
          <p:cNvPr id="11" name="Text 8"/>
          <p:cNvSpPr txBox="1"/>
          <p:nvPr/>
        </p:nvSpPr>
        <p:spPr>
          <a:xfrm>
            <a:off x="6903720" y="1920240"/>
            <a:ext cx="4663440" cy="2124423"/>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Live PowerShell response confirming a successful Application Programming Interface call against the Django backend.</a:t>
            </a:r>
            <a:endParaRPr lang="en-US" sz="1100" dirty="0"/>
          </a:p>
        </p:txBody>
      </p:sp>
      <p:sp>
        <p:nvSpPr>
          <p:cNvPr id="12" name="Shape 9"/>
          <p:cNvSpPr/>
          <p:nvPr/>
        </p:nvSpPr>
        <p:spPr>
          <a:xfrm>
            <a:off x="457200" y="4382991"/>
            <a:ext cx="3611880" cy="1417320"/>
          </a:xfrm>
          <a:prstGeom prst="roundRect">
            <a:avLst>
              <a:gd name="adj" fmla="val 5161"/>
            </a:avLst>
          </a:prstGeom>
          <a:solidFill>
            <a:srgbClr val="16283D"/>
          </a:solidFill>
          <a:ln w="9525">
            <a:solidFill>
              <a:srgbClr val="00C853"/>
            </a:solidFill>
            <a:prstDash val="solid"/>
          </a:ln>
        </p:spPr>
      </p:sp>
      <p:sp>
        <p:nvSpPr>
          <p:cNvPr id="13" name="Text 10"/>
          <p:cNvSpPr txBox="1"/>
          <p:nvPr/>
        </p:nvSpPr>
        <p:spPr>
          <a:xfrm>
            <a:off x="640080" y="4474431"/>
            <a:ext cx="3246120" cy="274320"/>
          </a:xfrm>
          <a:prstGeom prst="rect">
            <a:avLst/>
          </a:prstGeom>
          <a:noFill/>
          <a:ln/>
        </p:spPr>
        <p:txBody>
          <a:bodyPr wrap="square" lIns="0" tIns="0" rIns="0" bIns="0" rtlCol="0" anchor="ctr"/>
          <a:lstStyle/>
          <a:p>
            <a:pPr indent="0" marL="0">
              <a:buNone/>
            </a:pPr>
            <a:r>
              <a:rPr lang="en-US" sz="1200" b="1" dirty="0">
                <a:solidFill>
                  <a:srgbClr val="00C853"/>
                </a:solidFill>
                <a:latin typeface="Calibri" pitchFamily="34" charset="0"/>
                <a:ea typeface="Calibri" pitchFamily="34" charset="-122"/>
                <a:cs typeface="Calibri" pitchFamily="34" charset="-120"/>
              </a:rPr>
              <a:t>API Response</a:t>
            </a:r>
            <a:endParaRPr lang="en-US" sz="1200" dirty="0"/>
          </a:p>
        </p:txBody>
      </p:sp>
      <p:sp>
        <p:nvSpPr>
          <p:cNvPr id="14" name="Text 11"/>
          <p:cNvSpPr txBox="1"/>
          <p:nvPr/>
        </p:nvSpPr>
        <p:spPr>
          <a:xfrm>
            <a:off x="640080" y="4767039"/>
            <a:ext cx="3246120" cy="960120"/>
          </a:xfrm>
          <a:prstGeom prst="rect">
            <a:avLst/>
          </a:prstGeom>
          <a:noFill/>
          <a:ln/>
        </p:spPr>
        <p:txBody>
          <a:bodyPr wrap="square" lIns="50800" tIns="50800" rIns="50800" bIns="50800" rtlCol="0" anchor="t"/>
          <a:lstStyle/>
          <a:p>
            <a:pPr algn="l" marL="177800" indent="-177800">
              <a:lnSpc>
                <a:spcPct val="108000"/>
              </a:lnSpc>
              <a:spcAft>
                <a:spcPts val="800"/>
              </a:spcAft>
              <a:buSzPct val="100000"/>
              <a:buChar char="•"/>
            </a:pPr>
            <a:r>
              <a:rPr lang="en-US" sz="970" dirty="0">
                <a:solidFill>
                  <a:srgbClr val="FFFFFF"/>
                </a:solidFill>
                <a:latin typeface="Calibri" pitchFamily="34" charset="0"/>
                <a:ea typeface="Calibri" pitchFamily="34" charset="-122"/>
                <a:cs typeface="Calibri" pitchFamily="34" charset="-120"/>
              </a:rPr>
              <a:t>HTTP Status: 201 Created</a:t>
            </a:r>
            <a:endParaRPr lang="en-US" sz="970" dirty="0"/>
          </a:p>
          <a:p>
            <a:pPr algn="l" marL="177800" indent="-177800">
              <a:lnSpc>
                <a:spcPct val="108000"/>
              </a:lnSpc>
              <a:spcAft>
                <a:spcPts val="800"/>
              </a:spcAft>
              <a:buSzPct val="100000"/>
              <a:buChar char="•"/>
            </a:pPr>
            <a:r>
              <a:rPr lang="en-US" sz="970" dirty="0">
                <a:solidFill>
                  <a:srgbClr val="FFFFFF"/>
                </a:solidFill>
                <a:latin typeface="Calibri" pitchFamily="34" charset="0"/>
                <a:ea typeface="Calibri" pitchFamily="34" charset="-122"/>
                <a:cs typeface="Calibri" pitchFamily="34" charset="-120"/>
              </a:rPr>
              <a:t>Message: Student onboarding accepted</a:t>
            </a:r>
            <a:endParaRPr lang="en-US" sz="970" dirty="0"/>
          </a:p>
          <a:p>
            <a:pPr algn="l" marL="177800" indent="-177800">
              <a:lnSpc>
                <a:spcPct val="108000"/>
              </a:lnSpc>
              <a:spcAft>
                <a:spcPts val="800"/>
              </a:spcAft>
              <a:buSzPct val="100000"/>
              <a:buChar char="•"/>
            </a:pPr>
            <a:r>
              <a:rPr lang="en-US" sz="970" dirty="0">
                <a:solidFill>
                  <a:srgbClr val="FFFFFF"/>
                </a:solidFill>
                <a:latin typeface="Calibri" pitchFamily="34" charset="0"/>
                <a:ea typeface="Calibri" pitchFamily="34" charset="-122"/>
                <a:cs typeface="Calibri" pitchFamily="34" charset="-120"/>
              </a:rPr>
              <a:t>Deconstructed Clean Yes/No Decision: Yes</a:t>
            </a:r>
            <a:endParaRPr lang="en-US" sz="970" dirty="0"/>
          </a:p>
        </p:txBody>
      </p:sp>
      <p:sp>
        <p:nvSpPr>
          <p:cNvPr id="15" name="Shape 12"/>
          <p:cNvSpPr/>
          <p:nvPr/>
        </p:nvSpPr>
        <p:spPr>
          <a:xfrm>
            <a:off x="4288536" y="4382991"/>
            <a:ext cx="3611880" cy="1417320"/>
          </a:xfrm>
          <a:prstGeom prst="roundRect">
            <a:avLst>
              <a:gd name="adj" fmla="val 5161"/>
            </a:avLst>
          </a:prstGeom>
          <a:solidFill>
            <a:srgbClr val="16283D"/>
          </a:solidFill>
          <a:ln w="9525">
            <a:solidFill>
              <a:srgbClr val="00C853"/>
            </a:solidFill>
            <a:prstDash val="solid"/>
          </a:ln>
        </p:spPr>
      </p:sp>
      <p:sp>
        <p:nvSpPr>
          <p:cNvPr id="16" name="Text 13"/>
          <p:cNvSpPr txBox="1"/>
          <p:nvPr/>
        </p:nvSpPr>
        <p:spPr>
          <a:xfrm>
            <a:off x="4471416" y="4474431"/>
            <a:ext cx="3246120" cy="274320"/>
          </a:xfrm>
          <a:prstGeom prst="rect">
            <a:avLst/>
          </a:prstGeom>
          <a:noFill/>
          <a:ln/>
        </p:spPr>
        <p:txBody>
          <a:bodyPr wrap="square" lIns="0" tIns="0" rIns="0" bIns="0" rtlCol="0" anchor="ctr"/>
          <a:lstStyle/>
          <a:p>
            <a:pPr indent="0" marL="0">
              <a:buNone/>
            </a:pPr>
            <a:r>
              <a:rPr lang="en-US" sz="1200" b="1" dirty="0">
                <a:solidFill>
                  <a:srgbClr val="00C853"/>
                </a:solidFill>
                <a:latin typeface="Calibri" pitchFamily="34" charset="0"/>
                <a:ea typeface="Calibri" pitchFamily="34" charset="-122"/>
                <a:cs typeface="Calibri" pitchFamily="34" charset="-120"/>
              </a:rPr>
              <a:t>Pub/Sub Delivery</a:t>
            </a:r>
            <a:endParaRPr lang="en-US" sz="1200" dirty="0"/>
          </a:p>
        </p:txBody>
      </p:sp>
      <p:sp>
        <p:nvSpPr>
          <p:cNvPr id="17" name="Text 14"/>
          <p:cNvSpPr txBox="1"/>
          <p:nvPr/>
        </p:nvSpPr>
        <p:spPr>
          <a:xfrm>
            <a:off x="4471416" y="4767039"/>
            <a:ext cx="3246120" cy="960120"/>
          </a:xfrm>
          <a:prstGeom prst="rect">
            <a:avLst/>
          </a:prstGeom>
          <a:noFill/>
          <a:ln/>
        </p:spPr>
        <p:txBody>
          <a:bodyPr wrap="square" lIns="50800" tIns="50800" rIns="50800" bIns="50800" rtlCol="0" anchor="t"/>
          <a:lstStyle/>
          <a:p>
            <a:pPr algn="l" marL="177800" indent="-177800">
              <a:lnSpc>
                <a:spcPct val="108000"/>
              </a:lnSpc>
              <a:spcAft>
                <a:spcPts val="800"/>
              </a:spcAft>
              <a:buSzPct val="100000"/>
              <a:buChar char="•"/>
            </a:pPr>
            <a:r>
              <a:rPr lang="en-US" sz="970" dirty="0">
                <a:solidFill>
                  <a:srgbClr val="FFFFFF"/>
                </a:solidFill>
                <a:latin typeface="Calibri" pitchFamily="34" charset="0"/>
                <a:ea typeface="Calibri" pitchFamily="34" charset="-122"/>
                <a:cs typeface="Calibri" pitchFamily="34" charset="-120"/>
              </a:rPr>
              <a:t>Topic: student-onboarding</a:t>
            </a:r>
            <a:endParaRPr lang="en-US" sz="970" dirty="0"/>
          </a:p>
          <a:p>
            <a:pPr algn="l" marL="177800" indent="-177800">
              <a:lnSpc>
                <a:spcPct val="108000"/>
              </a:lnSpc>
              <a:spcAft>
                <a:spcPts val="800"/>
              </a:spcAft>
              <a:buSzPct val="100000"/>
              <a:buChar char="•"/>
            </a:pPr>
            <a:r>
              <a:rPr lang="en-US" sz="970" dirty="0">
                <a:solidFill>
                  <a:srgbClr val="FFFFFF"/>
                </a:solidFill>
                <a:latin typeface="Calibri" pitchFamily="34" charset="0"/>
                <a:ea typeface="Calibri" pitchFamily="34" charset="-122"/>
                <a:cs typeface="Calibri" pitchFamily="34" charset="-120"/>
              </a:rPr>
              <a:t>Schema: student-onboarding-schema (AVRO, JSON encoding)</a:t>
            </a:r>
            <a:endParaRPr lang="en-US" sz="970" dirty="0"/>
          </a:p>
          <a:p>
            <a:pPr algn="l" marL="177800" indent="-177800">
              <a:lnSpc>
                <a:spcPct val="108000"/>
              </a:lnSpc>
              <a:spcAft>
                <a:spcPts val="800"/>
              </a:spcAft>
              <a:buSzPct val="100000"/>
              <a:buChar char="•"/>
            </a:pPr>
            <a:r>
              <a:rPr lang="en-US" sz="970" dirty="0">
                <a:solidFill>
                  <a:srgbClr val="FFFFFF"/>
                </a:solidFill>
                <a:latin typeface="Calibri" pitchFamily="34" charset="0"/>
                <a:ea typeface="Calibri" pitchFamily="34" charset="-122"/>
                <a:cs typeface="Calibri" pitchFamily="34" charset="-120"/>
              </a:rPr>
              <a:t>Subscription state: ACTIVE</a:t>
            </a:r>
            <a:endParaRPr lang="en-US" sz="970" dirty="0"/>
          </a:p>
        </p:txBody>
      </p:sp>
      <p:sp>
        <p:nvSpPr>
          <p:cNvPr id="18" name="Shape 15"/>
          <p:cNvSpPr/>
          <p:nvPr/>
        </p:nvSpPr>
        <p:spPr>
          <a:xfrm>
            <a:off x="8119872" y="4382991"/>
            <a:ext cx="3611880" cy="1417320"/>
          </a:xfrm>
          <a:prstGeom prst="roundRect">
            <a:avLst>
              <a:gd name="adj" fmla="val 5161"/>
            </a:avLst>
          </a:prstGeom>
          <a:solidFill>
            <a:srgbClr val="16283D"/>
          </a:solidFill>
          <a:ln w="9525">
            <a:solidFill>
              <a:srgbClr val="00C853"/>
            </a:solidFill>
            <a:prstDash val="solid"/>
          </a:ln>
        </p:spPr>
      </p:sp>
      <p:sp>
        <p:nvSpPr>
          <p:cNvPr id="19" name="Text 16"/>
          <p:cNvSpPr txBox="1"/>
          <p:nvPr/>
        </p:nvSpPr>
        <p:spPr>
          <a:xfrm>
            <a:off x="8302752" y="4474431"/>
            <a:ext cx="3246120" cy="274320"/>
          </a:xfrm>
          <a:prstGeom prst="rect">
            <a:avLst/>
          </a:prstGeom>
          <a:noFill/>
          <a:ln/>
        </p:spPr>
        <p:txBody>
          <a:bodyPr wrap="square" lIns="0" tIns="0" rIns="0" bIns="0" rtlCol="0" anchor="ctr"/>
          <a:lstStyle/>
          <a:p>
            <a:pPr indent="0" marL="0">
              <a:buNone/>
            </a:pPr>
            <a:r>
              <a:rPr lang="en-US" sz="1200" b="1" dirty="0">
                <a:solidFill>
                  <a:srgbClr val="00C853"/>
                </a:solidFill>
                <a:latin typeface="Calibri" pitchFamily="34" charset="0"/>
                <a:ea typeface="Calibri" pitchFamily="34" charset="-122"/>
                <a:cs typeface="Calibri" pitchFamily="34" charset="-120"/>
              </a:rPr>
              <a:t>BigQuery Storage</a:t>
            </a:r>
            <a:endParaRPr lang="en-US" sz="1200" dirty="0"/>
          </a:p>
        </p:txBody>
      </p:sp>
      <p:sp>
        <p:nvSpPr>
          <p:cNvPr id="20" name="Text 17"/>
          <p:cNvSpPr txBox="1"/>
          <p:nvPr/>
        </p:nvSpPr>
        <p:spPr>
          <a:xfrm>
            <a:off x="8302752" y="4767039"/>
            <a:ext cx="3246120" cy="960120"/>
          </a:xfrm>
          <a:prstGeom prst="rect">
            <a:avLst/>
          </a:prstGeom>
          <a:noFill/>
          <a:ln/>
        </p:spPr>
        <p:txBody>
          <a:bodyPr wrap="square" lIns="50800" tIns="50800" rIns="50800" bIns="50800" rtlCol="0" anchor="t"/>
          <a:lstStyle/>
          <a:p>
            <a:pPr algn="l" marL="177800" indent="-177800">
              <a:lnSpc>
                <a:spcPct val="108000"/>
              </a:lnSpc>
              <a:spcAft>
                <a:spcPts val="800"/>
              </a:spcAft>
              <a:buSzPct val="100000"/>
              <a:buChar char="•"/>
            </a:pPr>
            <a:r>
              <a:rPr lang="en-US" sz="970" dirty="0">
                <a:solidFill>
                  <a:srgbClr val="FFFFFF"/>
                </a:solidFill>
                <a:latin typeface="Calibri" pitchFamily="34" charset="0"/>
                <a:ea typeface="Calibri" pitchFamily="34" charset="-122"/>
                <a:cs typeface="Calibri" pitchFamily="34" charset="-120"/>
              </a:rPr>
              <a:t>Dataset: d1_staged_enforced</a:t>
            </a:r>
            <a:endParaRPr lang="en-US" sz="970" dirty="0"/>
          </a:p>
          <a:p>
            <a:pPr algn="l" marL="177800" indent="-177800">
              <a:lnSpc>
                <a:spcPct val="108000"/>
              </a:lnSpc>
              <a:spcAft>
                <a:spcPts val="800"/>
              </a:spcAft>
              <a:buSzPct val="100000"/>
              <a:buChar char="•"/>
            </a:pPr>
            <a:r>
              <a:rPr lang="en-US" sz="970" dirty="0">
                <a:solidFill>
                  <a:srgbClr val="FFFFFF"/>
                </a:solidFill>
                <a:latin typeface="Calibri" pitchFamily="34" charset="0"/>
                <a:ea typeface="Calibri" pitchFamily="34" charset="-122"/>
                <a:cs typeface="Calibri" pitchFamily="34" charset="-120"/>
              </a:rPr>
              <a:t>Table: student_onboarding</a:t>
            </a:r>
            <a:endParaRPr lang="en-US" sz="970" dirty="0"/>
          </a:p>
          <a:p>
            <a:pPr algn="l" marL="177800" indent="-177800">
              <a:lnSpc>
                <a:spcPct val="108000"/>
              </a:lnSpc>
              <a:spcAft>
                <a:spcPts val="800"/>
              </a:spcAft>
              <a:buSzPct val="100000"/>
              <a:buChar char="•"/>
            </a:pPr>
            <a:r>
              <a:rPr lang="en-US" sz="970" dirty="0">
                <a:solidFill>
                  <a:srgbClr val="FFFFFF"/>
                </a:solidFill>
                <a:latin typeface="Calibri" pitchFamily="34" charset="0"/>
                <a:ea typeface="Calibri" pitchFamily="34" charset="-122"/>
                <a:cs typeface="Calibri" pitchFamily="34" charset="-120"/>
              </a:rPr>
              <a:t>Row count increased from 5 to 6 after submission (confirmed via bq show)</a:t>
            </a:r>
            <a:endParaRPr lang="en-US" sz="970" dirty="0"/>
          </a:p>
        </p:txBody>
      </p:sp>
      <p:sp>
        <p:nvSpPr>
          <p:cNvPr id="21" name="Shape 18"/>
          <p:cNvSpPr/>
          <p:nvPr/>
        </p:nvSpPr>
        <p:spPr>
          <a:xfrm>
            <a:off x="457200" y="5937471"/>
            <a:ext cx="11274552" cy="594360"/>
          </a:xfrm>
          <a:prstGeom prst="roundRect">
            <a:avLst>
              <a:gd name="adj" fmla="val 12308"/>
            </a:avLst>
          </a:prstGeom>
          <a:solidFill>
            <a:srgbClr val="0C3A24"/>
          </a:solidFill>
          <a:ln w="12700">
            <a:solidFill>
              <a:srgbClr val="00C853"/>
            </a:solidFill>
            <a:prstDash val="solid"/>
          </a:ln>
        </p:spPr>
      </p:sp>
      <p:sp>
        <p:nvSpPr>
          <p:cNvPr id="22" name="Text 19"/>
          <p:cNvSpPr txBox="1"/>
          <p:nvPr/>
        </p:nvSpPr>
        <p:spPr>
          <a:xfrm>
            <a:off x="731520" y="5937471"/>
            <a:ext cx="10725912" cy="594360"/>
          </a:xfrm>
          <a:prstGeom prst="rect">
            <a:avLst/>
          </a:prstGeom>
          <a:noFill/>
          <a:ln/>
        </p:spPr>
        <p:txBody>
          <a:bodyPr wrap="square" lIns="0" tIns="0" rIns="0" bIns="0" rtlCol="0" anchor="ctr"/>
          <a:lstStyle/>
          <a:p>
            <a:pPr algn="ctr" indent="0" marL="0">
              <a:buNone/>
            </a:pPr>
            <a:r>
              <a:rPr lang="en-US" sz="1150" b="1" i="1" dirty="0">
                <a:solidFill>
                  <a:srgbClr val="6FF3B0"/>
                </a:solidFill>
                <a:latin typeface="Calibri" pitchFamily="34" charset="0"/>
                <a:ea typeface="Calibri" pitchFamily="34" charset="-122"/>
                <a:cs typeface="Calibri" pitchFamily="34" charset="-120"/>
              </a:rPr>
              <a:t>Complete flow from frontend submission to BigQuery row confirmed in a live Google Cloud Platform project (divine-bloom-441216-m7, asia-south1).</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0561320" y="256032"/>
            <a:ext cx="1188720" cy="402336"/>
          </a:xfrm>
          <a:prstGeom prst="roundRect">
            <a:avLst>
              <a:gd name="adj" fmla="val 15909"/>
            </a:avLst>
          </a:prstGeom>
          <a:solidFill>
            <a:srgbClr val="1C3350"/>
          </a:solidFill>
          <a:ln w="9525">
            <a:solidFill>
              <a:srgbClr val="00AEEF"/>
            </a:solidFill>
            <a:prstDash val="solid"/>
          </a:ln>
        </p:spPr>
      </p:sp>
      <p:sp>
        <p:nvSpPr>
          <p:cNvPr id="3" name="Text 1"/>
          <p:cNvSpPr txBox="1"/>
          <p:nvPr/>
        </p:nvSpPr>
        <p:spPr>
          <a:xfrm>
            <a:off x="10561320" y="256032"/>
            <a:ext cx="1188720" cy="402336"/>
          </a:xfrm>
          <a:prstGeom prst="rect">
            <a:avLst/>
          </a:prstGeom>
          <a:noFill/>
          <a:ln/>
        </p:spPr>
        <p:txBody>
          <a:bodyPr wrap="square" lIns="0" tIns="0" rIns="0" bIns="0" rtlCol="0" anchor="ctr"/>
          <a:lstStyle/>
          <a:p>
            <a:pPr algn="ctr" indent="0" marL="0">
              <a:buNone/>
            </a:pPr>
            <a:r>
              <a:rPr lang="en-US" sz="750" b="1" dirty="0">
                <a:solidFill>
                  <a:srgbClr val="00AEEF"/>
                </a:solidFill>
                <a:latin typeface="Calibri" pitchFamily="34" charset="0"/>
                <a:ea typeface="Calibri" pitchFamily="34" charset="-122"/>
                <a:cs typeface="Calibri" pitchFamily="34" charset="-120"/>
              </a:rPr>
              <a:t>HABOT CONNECT</a:t>
            </a:r>
            <a:endParaRPr lang="en-US" sz="750" dirty="0"/>
          </a:p>
        </p:txBody>
      </p:sp>
      <p:sp>
        <p:nvSpPr>
          <p:cNvPr id="4" name="Text 2"/>
          <p:cNvSpPr txBox="1"/>
          <p:nvPr/>
        </p:nvSpPr>
        <p:spPr>
          <a:xfrm>
            <a:off x="457200" y="274320"/>
            <a:ext cx="9966960" cy="566928"/>
          </a:xfrm>
          <a:prstGeom prst="rect">
            <a:avLst/>
          </a:prstGeom>
          <a:noFill/>
          <a:ln/>
        </p:spPr>
        <p:txBody>
          <a:bodyPr wrap="square" lIns="0" tIns="0" rIns="0" bIns="0" rtlCol="0" anchor="ctr"/>
          <a:lstStyle/>
          <a:p>
            <a:pPr algn="l" indent="0" marL="0">
              <a:buNone/>
            </a:pPr>
            <a:r>
              <a:rPr lang="en-US" sz="2500" b="1" dirty="0">
                <a:solidFill>
                  <a:srgbClr val="00AEEF"/>
                </a:solidFill>
                <a:latin typeface="Calibri" pitchFamily="34" charset="0"/>
                <a:ea typeface="Calibri" pitchFamily="34" charset="-122"/>
                <a:cs typeface="Calibri" pitchFamily="34" charset="-120"/>
              </a:rPr>
              <a:t>Submission Summary — Deliverables and Engineering Principles</a:t>
            </a:r>
            <a:endParaRPr lang="en-US" sz="2500" dirty="0"/>
          </a:p>
        </p:txBody>
      </p:sp>
      <p:sp>
        <p:nvSpPr>
          <p:cNvPr id="5" name="Shape 3"/>
          <p:cNvSpPr/>
          <p:nvPr/>
        </p:nvSpPr>
        <p:spPr>
          <a:xfrm>
            <a:off x="457200" y="1051560"/>
            <a:ext cx="5486400" cy="4709160"/>
          </a:xfrm>
          <a:prstGeom prst="roundRect">
            <a:avLst>
              <a:gd name="adj" fmla="val 1553"/>
            </a:avLst>
          </a:prstGeom>
          <a:solidFill>
            <a:srgbClr val="16283D"/>
          </a:solidFill>
          <a:ln w="9525">
            <a:solidFill>
              <a:srgbClr val="24405F"/>
            </a:solidFill>
            <a:prstDash val="solid"/>
          </a:ln>
        </p:spPr>
      </p:sp>
      <p:sp>
        <p:nvSpPr>
          <p:cNvPr id="6" name="Text 4"/>
          <p:cNvSpPr txBox="1"/>
          <p:nvPr/>
        </p:nvSpPr>
        <p:spPr>
          <a:xfrm>
            <a:off x="685800" y="1188720"/>
            <a:ext cx="5029200" cy="320040"/>
          </a:xfrm>
          <a:prstGeom prst="rect">
            <a:avLst/>
          </a:prstGeom>
          <a:noFill/>
          <a:ln/>
        </p:spPr>
        <p:txBody>
          <a:bodyPr wrap="square" lIns="0" tIns="0" rIns="0" bIns="0" rtlCol="0" anchor="ctr"/>
          <a:lstStyle/>
          <a:p>
            <a:pPr indent="0" marL="0">
              <a:buNone/>
            </a:pPr>
            <a:r>
              <a:rPr lang="en-US" sz="1400" b="1" dirty="0">
                <a:solidFill>
                  <a:srgbClr val="00AEEF"/>
                </a:solidFill>
                <a:latin typeface="Calibri" pitchFamily="34" charset="0"/>
                <a:ea typeface="Calibri" pitchFamily="34" charset="-122"/>
                <a:cs typeface="Calibri" pitchFamily="34" charset="-120"/>
              </a:rPr>
              <a:t>Deliverables Checklist</a:t>
            </a:r>
            <a:endParaRPr lang="en-US" sz="1400" dirty="0"/>
          </a:p>
        </p:txBody>
      </p:sp>
      <p:sp>
        <p:nvSpPr>
          <p:cNvPr id="7" name="Text 5"/>
          <p:cNvSpPr txBox="1"/>
          <p:nvPr/>
        </p:nvSpPr>
        <p:spPr>
          <a:xfrm>
            <a:off x="731520" y="1572768"/>
            <a:ext cx="4983480" cy="420624"/>
          </a:xfrm>
          <a:prstGeom prst="rect">
            <a:avLst/>
          </a:prstGeom>
          <a:noFill/>
          <a:ln/>
        </p:spPr>
        <p:txBody>
          <a:bodyPr wrap="square" lIns="0" tIns="0" rIns="0" bIns="0" rtlCol="0" anchor="t"/>
          <a:lstStyle/>
          <a:p>
            <a:pPr algn="l" indent="0" marL="0">
              <a:lnSpc>
                <a:spcPct val="105000"/>
              </a:lnSpc>
              <a:buNone/>
            </a:pPr>
            <a:r>
              <a:rPr lang="en-US" sz="1080" b="1" dirty="0">
                <a:solidFill>
                  <a:srgbClr val="00C853"/>
                </a:solidFill>
                <a:latin typeface="Calibri" pitchFamily="34" charset="0"/>
                <a:ea typeface="Calibri" pitchFamily="34" charset="-122"/>
                <a:cs typeface="Calibri" pitchFamily="34" charset="-120"/>
              </a:rPr>
              <a:t>✓  </a:t>
            </a:r>
            <a:pPr algn="l" indent="0" marL="0">
              <a:lnSpc>
                <a:spcPct val="105000"/>
              </a:lnSpc>
              <a:buNone/>
            </a:pPr>
            <a:r>
              <a:rPr lang="en-US" sz="1080" dirty="0">
                <a:solidFill>
                  <a:srgbClr val="FFFFFF"/>
                </a:solidFill>
                <a:latin typeface="Calibri" pitchFamily="34" charset="0"/>
                <a:ea typeface="Calibri" pitchFamily="34" charset="-122"/>
                <a:cs typeface="Calibri" pitchFamily="34" charset="-120"/>
              </a:rPr>
              <a:t>Terraform Infrastructure as Code (main.tf, modules, pubsub-schema.avsc)</a:t>
            </a:r>
            <a:endParaRPr lang="en-US" sz="1080" dirty="0"/>
          </a:p>
        </p:txBody>
      </p:sp>
      <p:sp>
        <p:nvSpPr>
          <p:cNvPr id="8" name="Text 6"/>
          <p:cNvSpPr txBox="1"/>
          <p:nvPr/>
        </p:nvSpPr>
        <p:spPr>
          <a:xfrm>
            <a:off x="731520" y="2007108"/>
            <a:ext cx="4983480" cy="420624"/>
          </a:xfrm>
          <a:prstGeom prst="rect">
            <a:avLst/>
          </a:prstGeom>
          <a:noFill/>
          <a:ln/>
        </p:spPr>
        <p:txBody>
          <a:bodyPr wrap="square" lIns="0" tIns="0" rIns="0" bIns="0" rtlCol="0" anchor="t"/>
          <a:lstStyle/>
          <a:p>
            <a:pPr algn="l" indent="0" marL="0">
              <a:lnSpc>
                <a:spcPct val="105000"/>
              </a:lnSpc>
              <a:buNone/>
            </a:pPr>
            <a:r>
              <a:rPr lang="en-US" sz="1080" b="1" dirty="0">
                <a:solidFill>
                  <a:srgbClr val="00C853"/>
                </a:solidFill>
                <a:latin typeface="Calibri" pitchFamily="34" charset="0"/>
                <a:ea typeface="Calibri" pitchFamily="34" charset="-122"/>
                <a:cs typeface="Calibri" pitchFamily="34" charset="-120"/>
              </a:rPr>
              <a:t>✓  </a:t>
            </a:r>
            <a:pPr algn="l" indent="0" marL="0">
              <a:lnSpc>
                <a:spcPct val="105000"/>
              </a:lnSpc>
              <a:buNone/>
            </a:pPr>
            <a:r>
              <a:rPr lang="en-US" sz="1080" dirty="0">
                <a:solidFill>
                  <a:srgbClr val="FFFFFF"/>
                </a:solidFill>
                <a:latin typeface="Calibri" pitchFamily="34" charset="0"/>
                <a:ea typeface="Calibri" pitchFamily="34" charset="-122"/>
                <a:cs typeface="Calibri" pitchFamily="34" charset="-120"/>
              </a:rPr>
              <a:t>GitHub Actions Poka-Yoke Continuous Integration pipeline (.github/workflows/ci.yml)</a:t>
            </a:r>
            <a:endParaRPr lang="en-US" sz="1080" dirty="0"/>
          </a:p>
        </p:txBody>
      </p:sp>
      <p:sp>
        <p:nvSpPr>
          <p:cNvPr id="9" name="Text 7"/>
          <p:cNvSpPr txBox="1"/>
          <p:nvPr/>
        </p:nvSpPr>
        <p:spPr>
          <a:xfrm>
            <a:off x="731520" y="2441448"/>
            <a:ext cx="4983480" cy="420624"/>
          </a:xfrm>
          <a:prstGeom prst="rect">
            <a:avLst/>
          </a:prstGeom>
          <a:noFill/>
          <a:ln/>
        </p:spPr>
        <p:txBody>
          <a:bodyPr wrap="square" lIns="0" tIns="0" rIns="0" bIns="0" rtlCol="0" anchor="t"/>
          <a:lstStyle/>
          <a:p>
            <a:pPr algn="l" indent="0" marL="0">
              <a:lnSpc>
                <a:spcPct val="105000"/>
              </a:lnSpc>
              <a:buNone/>
            </a:pPr>
            <a:r>
              <a:rPr lang="en-US" sz="1080" b="1" dirty="0">
                <a:solidFill>
                  <a:srgbClr val="00C853"/>
                </a:solidFill>
                <a:latin typeface="Calibri" pitchFamily="34" charset="0"/>
                <a:ea typeface="Calibri" pitchFamily="34" charset="-122"/>
                <a:cs typeface="Calibri" pitchFamily="34" charset="-120"/>
              </a:rPr>
              <a:t>✓  </a:t>
            </a:r>
            <a:pPr algn="l" indent="0" marL="0">
              <a:lnSpc>
                <a:spcPct val="105000"/>
              </a:lnSpc>
              <a:buNone/>
            </a:pPr>
            <a:r>
              <a:rPr lang="en-US" sz="1080" dirty="0">
                <a:solidFill>
                  <a:srgbClr val="FFFFFF"/>
                </a:solidFill>
                <a:latin typeface="Calibri" pitchFamily="34" charset="0"/>
                <a:ea typeface="Calibri" pitchFamily="34" charset="-122"/>
                <a:cs typeface="Calibri" pitchFamily="34" charset="-120"/>
              </a:rPr>
              <a:t>Django REST Framework serializer and Deconstructed Clean Yes/No validation (serializers.py, dcyn.py)</a:t>
            </a:r>
            <a:endParaRPr lang="en-US" sz="1080" dirty="0"/>
          </a:p>
        </p:txBody>
      </p:sp>
      <p:sp>
        <p:nvSpPr>
          <p:cNvPr id="10" name="Text 8"/>
          <p:cNvSpPr txBox="1"/>
          <p:nvPr/>
        </p:nvSpPr>
        <p:spPr>
          <a:xfrm>
            <a:off x="731520" y="2875788"/>
            <a:ext cx="4983480" cy="420624"/>
          </a:xfrm>
          <a:prstGeom prst="rect">
            <a:avLst/>
          </a:prstGeom>
          <a:noFill/>
          <a:ln/>
        </p:spPr>
        <p:txBody>
          <a:bodyPr wrap="square" lIns="0" tIns="0" rIns="0" bIns="0" rtlCol="0" anchor="t"/>
          <a:lstStyle/>
          <a:p>
            <a:pPr algn="l" indent="0" marL="0">
              <a:lnSpc>
                <a:spcPct val="105000"/>
              </a:lnSpc>
              <a:buNone/>
            </a:pPr>
            <a:r>
              <a:rPr lang="en-US" sz="1080" b="1" dirty="0">
                <a:solidFill>
                  <a:srgbClr val="00C853"/>
                </a:solidFill>
                <a:latin typeface="Calibri" pitchFamily="34" charset="0"/>
                <a:ea typeface="Calibri" pitchFamily="34" charset="-122"/>
                <a:cs typeface="Calibri" pitchFamily="34" charset="-120"/>
              </a:rPr>
              <a:t>✓  </a:t>
            </a:r>
            <a:pPr algn="l" indent="0" marL="0">
              <a:lnSpc>
                <a:spcPct val="105000"/>
              </a:lnSpc>
              <a:buNone/>
            </a:pPr>
            <a:r>
              <a:rPr lang="en-US" sz="1080" dirty="0">
                <a:solidFill>
                  <a:srgbClr val="FFFFFF"/>
                </a:solidFill>
                <a:latin typeface="Calibri" pitchFamily="34" charset="0"/>
                <a:ea typeface="Calibri" pitchFamily="34" charset="-122"/>
                <a:cs typeface="Calibri" pitchFamily="34" charset="-120"/>
              </a:rPr>
              <a:t>Google Cloud Pub/Sub to BigQuery streaming ingestion (pubsub.py)</a:t>
            </a:r>
            <a:endParaRPr lang="en-US" sz="1080" dirty="0"/>
          </a:p>
        </p:txBody>
      </p:sp>
      <p:sp>
        <p:nvSpPr>
          <p:cNvPr id="11" name="Text 9"/>
          <p:cNvSpPr txBox="1"/>
          <p:nvPr/>
        </p:nvSpPr>
        <p:spPr>
          <a:xfrm>
            <a:off x="731520" y="3310128"/>
            <a:ext cx="4983480" cy="420624"/>
          </a:xfrm>
          <a:prstGeom prst="rect">
            <a:avLst/>
          </a:prstGeom>
          <a:noFill/>
          <a:ln/>
        </p:spPr>
        <p:txBody>
          <a:bodyPr wrap="square" lIns="0" tIns="0" rIns="0" bIns="0" rtlCol="0" anchor="t"/>
          <a:lstStyle/>
          <a:p>
            <a:pPr algn="l" indent="0" marL="0">
              <a:lnSpc>
                <a:spcPct val="105000"/>
              </a:lnSpc>
              <a:buNone/>
            </a:pPr>
            <a:r>
              <a:rPr lang="en-US" sz="1080" b="1" dirty="0">
                <a:solidFill>
                  <a:srgbClr val="00C853"/>
                </a:solidFill>
                <a:latin typeface="Calibri" pitchFamily="34" charset="0"/>
                <a:ea typeface="Calibri" pitchFamily="34" charset="-122"/>
                <a:cs typeface="Calibri" pitchFamily="34" charset="-120"/>
              </a:rPr>
              <a:t>✓  </a:t>
            </a:r>
            <a:pPr algn="l" indent="0" marL="0">
              <a:lnSpc>
                <a:spcPct val="105000"/>
              </a:lnSpc>
              <a:buNone/>
            </a:pPr>
            <a:r>
              <a:rPr lang="en-US" sz="1080" dirty="0">
                <a:solidFill>
                  <a:srgbClr val="FFFFFF"/>
                </a:solidFill>
                <a:latin typeface="Calibri" pitchFamily="34" charset="0"/>
                <a:ea typeface="Calibri" pitchFamily="34" charset="-122"/>
                <a:cs typeface="Calibri" pitchFamily="34" charset="-120"/>
              </a:rPr>
              <a:t>Row-Level Security policy (BigQuery: owner_email = SESSION_USER())</a:t>
            </a:r>
            <a:endParaRPr lang="en-US" sz="1080" dirty="0"/>
          </a:p>
        </p:txBody>
      </p:sp>
      <p:sp>
        <p:nvSpPr>
          <p:cNvPr id="12" name="Text 10"/>
          <p:cNvSpPr txBox="1"/>
          <p:nvPr/>
        </p:nvSpPr>
        <p:spPr>
          <a:xfrm>
            <a:off x="731520" y="3744468"/>
            <a:ext cx="4983480" cy="420624"/>
          </a:xfrm>
          <a:prstGeom prst="rect">
            <a:avLst/>
          </a:prstGeom>
          <a:noFill/>
          <a:ln/>
        </p:spPr>
        <p:txBody>
          <a:bodyPr wrap="square" lIns="0" tIns="0" rIns="0" bIns="0" rtlCol="0" anchor="t"/>
          <a:lstStyle/>
          <a:p>
            <a:pPr algn="l" indent="0" marL="0">
              <a:lnSpc>
                <a:spcPct val="105000"/>
              </a:lnSpc>
              <a:buNone/>
            </a:pPr>
            <a:r>
              <a:rPr lang="en-US" sz="1080" b="1" dirty="0">
                <a:solidFill>
                  <a:srgbClr val="00C853"/>
                </a:solidFill>
                <a:latin typeface="Calibri" pitchFamily="34" charset="0"/>
                <a:ea typeface="Calibri" pitchFamily="34" charset="-122"/>
                <a:cs typeface="Calibri" pitchFamily="34" charset="-120"/>
              </a:rPr>
              <a:t>✓  </a:t>
            </a:r>
            <a:pPr algn="l" indent="0" marL="0">
              <a:lnSpc>
                <a:spcPct val="105000"/>
              </a:lnSpc>
              <a:buNone/>
            </a:pPr>
            <a:r>
              <a:rPr lang="en-US" sz="1080" dirty="0">
                <a:solidFill>
                  <a:srgbClr val="FFFFFF"/>
                </a:solidFill>
                <a:latin typeface="Calibri" pitchFamily="34" charset="0"/>
                <a:ea typeface="Calibri" pitchFamily="34" charset="-122"/>
                <a:cs typeface="Calibri" pitchFamily="34" charset="-120"/>
              </a:rPr>
              <a:t>Frontend student onboarding form (index.html, script.js, style.css)</a:t>
            </a:r>
            <a:endParaRPr lang="en-US" sz="1080" dirty="0"/>
          </a:p>
        </p:txBody>
      </p:sp>
      <p:sp>
        <p:nvSpPr>
          <p:cNvPr id="13" name="Text 11"/>
          <p:cNvSpPr txBox="1"/>
          <p:nvPr/>
        </p:nvSpPr>
        <p:spPr>
          <a:xfrm>
            <a:off x="731520" y="4178808"/>
            <a:ext cx="4983480" cy="420624"/>
          </a:xfrm>
          <a:prstGeom prst="rect">
            <a:avLst/>
          </a:prstGeom>
          <a:noFill/>
          <a:ln/>
        </p:spPr>
        <p:txBody>
          <a:bodyPr wrap="square" lIns="0" tIns="0" rIns="0" bIns="0" rtlCol="0" anchor="t"/>
          <a:lstStyle/>
          <a:p>
            <a:pPr algn="l" indent="0" marL="0">
              <a:lnSpc>
                <a:spcPct val="105000"/>
              </a:lnSpc>
              <a:buNone/>
            </a:pPr>
            <a:r>
              <a:rPr lang="en-US" sz="1080" b="1" dirty="0">
                <a:solidFill>
                  <a:srgbClr val="00C853"/>
                </a:solidFill>
                <a:latin typeface="Calibri" pitchFamily="34" charset="0"/>
                <a:ea typeface="Calibri" pitchFamily="34" charset="-122"/>
                <a:cs typeface="Calibri" pitchFamily="34" charset="-120"/>
              </a:rPr>
              <a:t>✓  </a:t>
            </a:r>
            <a:pPr algn="l" indent="0" marL="0">
              <a:lnSpc>
                <a:spcPct val="105000"/>
              </a:lnSpc>
              <a:buNone/>
            </a:pPr>
            <a:r>
              <a:rPr lang="en-US" sz="1080" dirty="0">
                <a:solidFill>
                  <a:srgbClr val="FFFFFF"/>
                </a:solidFill>
                <a:latin typeface="Calibri" pitchFamily="34" charset="0"/>
                <a:ea typeface="Calibri" pitchFamily="34" charset="-122"/>
                <a:cs typeface="Calibri" pitchFamily="34" charset="-120"/>
              </a:rPr>
              <a:t>Schema mapping worksheet (schema_mapping_worksheet.csv)</a:t>
            </a:r>
            <a:endParaRPr lang="en-US" sz="1080" dirty="0"/>
          </a:p>
        </p:txBody>
      </p:sp>
      <p:sp>
        <p:nvSpPr>
          <p:cNvPr id="14" name="Text 12"/>
          <p:cNvSpPr txBox="1"/>
          <p:nvPr/>
        </p:nvSpPr>
        <p:spPr>
          <a:xfrm>
            <a:off x="731520" y="4613148"/>
            <a:ext cx="4983480" cy="420624"/>
          </a:xfrm>
          <a:prstGeom prst="rect">
            <a:avLst/>
          </a:prstGeom>
          <a:noFill/>
          <a:ln/>
        </p:spPr>
        <p:txBody>
          <a:bodyPr wrap="square" lIns="0" tIns="0" rIns="0" bIns="0" rtlCol="0" anchor="t"/>
          <a:lstStyle/>
          <a:p>
            <a:pPr algn="l" indent="0" marL="0">
              <a:lnSpc>
                <a:spcPct val="105000"/>
              </a:lnSpc>
              <a:buNone/>
            </a:pPr>
            <a:r>
              <a:rPr lang="en-US" sz="1080" b="1" dirty="0">
                <a:solidFill>
                  <a:srgbClr val="00C853"/>
                </a:solidFill>
                <a:latin typeface="Calibri" pitchFamily="34" charset="0"/>
                <a:ea typeface="Calibri" pitchFamily="34" charset="-122"/>
                <a:cs typeface="Calibri" pitchFamily="34" charset="-120"/>
              </a:rPr>
              <a:t>✓  </a:t>
            </a:r>
            <a:pPr algn="l" indent="0" marL="0">
              <a:lnSpc>
                <a:spcPct val="105000"/>
              </a:lnSpc>
              <a:buNone/>
            </a:pPr>
            <a:r>
              <a:rPr lang="en-US" sz="1080" dirty="0">
                <a:solidFill>
                  <a:srgbClr val="FFFFFF"/>
                </a:solidFill>
                <a:latin typeface="Calibri" pitchFamily="34" charset="0"/>
                <a:ea typeface="Calibri" pitchFamily="34" charset="-122"/>
                <a:cs typeface="Calibri" pitchFamily="34" charset="-120"/>
              </a:rPr>
              <a:t>Complete documentation (docs/ directory)</a:t>
            </a:r>
            <a:endParaRPr lang="en-US" sz="1080" dirty="0"/>
          </a:p>
        </p:txBody>
      </p:sp>
      <p:sp>
        <p:nvSpPr>
          <p:cNvPr id="15" name="Text 13"/>
          <p:cNvSpPr txBox="1"/>
          <p:nvPr/>
        </p:nvSpPr>
        <p:spPr>
          <a:xfrm>
            <a:off x="731520" y="5047488"/>
            <a:ext cx="4983480" cy="420624"/>
          </a:xfrm>
          <a:prstGeom prst="rect">
            <a:avLst/>
          </a:prstGeom>
          <a:noFill/>
          <a:ln/>
        </p:spPr>
        <p:txBody>
          <a:bodyPr wrap="square" lIns="0" tIns="0" rIns="0" bIns="0" rtlCol="0" anchor="t"/>
          <a:lstStyle/>
          <a:p>
            <a:pPr algn="l" indent="0" marL="0">
              <a:lnSpc>
                <a:spcPct val="105000"/>
              </a:lnSpc>
              <a:buNone/>
            </a:pPr>
            <a:r>
              <a:rPr lang="en-US" sz="1080" b="1" dirty="0">
                <a:solidFill>
                  <a:srgbClr val="00C853"/>
                </a:solidFill>
                <a:latin typeface="Calibri" pitchFamily="34" charset="0"/>
                <a:ea typeface="Calibri" pitchFamily="34" charset="-122"/>
                <a:cs typeface="Calibri" pitchFamily="34" charset="-120"/>
              </a:rPr>
              <a:t>✓  </a:t>
            </a:r>
            <a:pPr algn="l" indent="0" marL="0">
              <a:lnSpc>
                <a:spcPct val="105000"/>
              </a:lnSpc>
              <a:buNone/>
            </a:pPr>
            <a:r>
              <a:rPr lang="en-US" sz="1080" dirty="0">
                <a:solidFill>
                  <a:srgbClr val="FFFFFF"/>
                </a:solidFill>
                <a:latin typeface="Calibri" pitchFamily="34" charset="0"/>
                <a:ea typeface="Calibri" pitchFamily="34" charset="-122"/>
                <a:cs typeface="Calibri" pitchFamily="34" charset="-120"/>
              </a:rPr>
              <a:t>Author and contact headers on all source files</a:t>
            </a:r>
            <a:endParaRPr lang="en-US" sz="1080" dirty="0"/>
          </a:p>
        </p:txBody>
      </p:sp>
      <p:sp>
        <p:nvSpPr>
          <p:cNvPr id="16" name="Text 14"/>
          <p:cNvSpPr txBox="1"/>
          <p:nvPr/>
        </p:nvSpPr>
        <p:spPr>
          <a:xfrm>
            <a:off x="6245352" y="1188720"/>
            <a:ext cx="5486400" cy="320040"/>
          </a:xfrm>
          <a:prstGeom prst="rect">
            <a:avLst/>
          </a:prstGeom>
          <a:noFill/>
          <a:ln/>
        </p:spPr>
        <p:txBody>
          <a:bodyPr wrap="square" lIns="0" tIns="0" rIns="0" bIns="0" rtlCol="0" anchor="ctr"/>
          <a:lstStyle/>
          <a:p>
            <a:pPr indent="0" marL="0">
              <a:buNone/>
            </a:pPr>
            <a:r>
              <a:rPr lang="en-US" sz="1400" b="1" dirty="0">
                <a:solidFill>
                  <a:srgbClr val="00AEEF"/>
                </a:solidFill>
                <a:latin typeface="Calibri" pitchFamily="34" charset="0"/>
                <a:ea typeface="Calibri" pitchFamily="34" charset="-122"/>
                <a:cs typeface="Calibri" pitchFamily="34" charset="-120"/>
              </a:rPr>
              <a:t>Three Engineering Principles</a:t>
            </a:r>
            <a:endParaRPr lang="en-US" sz="1400" dirty="0"/>
          </a:p>
        </p:txBody>
      </p:sp>
      <p:sp>
        <p:nvSpPr>
          <p:cNvPr id="17" name="Shape 15"/>
          <p:cNvSpPr/>
          <p:nvPr/>
        </p:nvSpPr>
        <p:spPr>
          <a:xfrm>
            <a:off x="6245352" y="1600200"/>
            <a:ext cx="5486400" cy="1371600"/>
          </a:xfrm>
          <a:prstGeom prst="roundRect">
            <a:avLst>
              <a:gd name="adj" fmla="val 5333"/>
            </a:avLst>
          </a:prstGeom>
          <a:solidFill>
            <a:srgbClr val="16283D"/>
          </a:solidFill>
          <a:ln w="9525">
            <a:solidFill>
              <a:srgbClr val="24405F"/>
            </a:solidFill>
            <a:prstDash val="solid"/>
          </a:ln>
        </p:spPr>
      </p:sp>
      <p:sp>
        <p:nvSpPr>
          <p:cNvPr id="18" name="Text 16"/>
          <p:cNvSpPr txBox="1"/>
          <p:nvPr/>
        </p:nvSpPr>
        <p:spPr>
          <a:xfrm>
            <a:off x="6382512" y="1709928"/>
            <a:ext cx="457200" cy="457200"/>
          </a:xfrm>
          <a:prstGeom prst="rect">
            <a:avLst/>
          </a:prstGeom>
          <a:noFill/>
          <a:ln/>
        </p:spPr>
        <p:txBody>
          <a:bodyPr wrap="square" lIns="0" tIns="0" rIns="0" bIns="0" rtlCol="0" anchor="ctr"/>
          <a:lstStyle/>
          <a:p>
            <a:pPr indent="0" marL="0">
              <a:buNone/>
            </a:pPr>
            <a:r>
              <a:rPr lang="en-US" sz="2000" b="1" dirty="0">
                <a:solidFill>
                  <a:srgbClr val="00AEEF"/>
                </a:solidFill>
                <a:latin typeface="Calibri" pitchFamily="34" charset="0"/>
                <a:ea typeface="Calibri" pitchFamily="34" charset="-122"/>
                <a:cs typeface="Calibri" pitchFamily="34" charset="-120"/>
              </a:rPr>
              <a:t>1</a:t>
            </a:r>
            <a:endParaRPr lang="en-US" sz="2000" dirty="0"/>
          </a:p>
        </p:txBody>
      </p:sp>
      <p:sp>
        <p:nvSpPr>
          <p:cNvPr id="19" name="Text 17"/>
          <p:cNvSpPr txBox="1"/>
          <p:nvPr/>
        </p:nvSpPr>
        <p:spPr>
          <a:xfrm>
            <a:off x="6858000" y="1709928"/>
            <a:ext cx="47091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Fail-Closed Before Human Review</a:t>
            </a:r>
            <a:endParaRPr lang="en-US" sz="1300" dirty="0"/>
          </a:p>
        </p:txBody>
      </p:sp>
      <p:sp>
        <p:nvSpPr>
          <p:cNvPr id="20" name="Text 18"/>
          <p:cNvSpPr txBox="1"/>
          <p:nvPr/>
        </p:nvSpPr>
        <p:spPr>
          <a:xfrm>
            <a:off x="6858000" y="2057400"/>
            <a:ext cx="4709160" cy="822960"/>
          </a:xfrm>
          <a:prstGeom prst="rect">
            <a:avLst/>
          </a:prstGeom>
          <a:noFill/>
          <a:ln/>
        </p:spPr>
        <p:txBody>
          <a:bodyPr wrap="square" lIns="0" tIns="0" rIns="0" bIns="0" rtlCol="0" anchor="t"/>
          <a:lstStyle/>
          <a:p>
            <a:pPr algn="l" indent="0" marL="0">
              <a:lnSpc>
                <a:spcPct val="115000"/>
              </a:lnSpc>
              <a:buNone/>
            </a:pPr>
            <a:r>
              <a:rPr lang="en-US" sz="1080" dirty="0">
                <a:solidFill>
                  <a:srgbClr val="8FA3B8"/>
                </a:solidFill>
                <a:latin typeface="Calibri" pitchFamily="34" charset="0"/>
                <a:ea typeface="Calibri" pitchFamily="34" charset="-122"/>
                <a:cs typeface="Calibri" pitchFamily="34" charset="-120"/>
              </a:rPr>
              <a:t>Automated gates catch mistakes before a human ever sees the code.</a:t>
            </a:r>
            <a:endParaRPr lang="en-US" sz="1080" dirty="0"/>
          </a:p>
        </p:txBody>
      </p:sp>
      <p:sp>
        <p:nvSpPr>
          <p:cNvPr id="21" name="Shape 19"/>
          <p:cNvSpPr/>
          <p:nvPr/>
        </p:nvSpPr>
        <p:spPr>
          <a:xfrm>
            <a:off x="6245352" y="3127248"/>
            <a:ext cx="5486400" cy="1371600"/>
          </a:xfrm>
          <a:prstGeom prst="roundRect">
            <a:avLst>
              <a:gd name="adj" fmla="val 5333"/>
            </a:avLst>
          </a:prstGeom>
          <a:solidFill>
            <a:srgbClr val="16283D"/>
          </a:solidFill>
          <a:ln w="9525">
            <a:solidFill>
              <a:srgbClr val="24405F"/>
            </a:solidFill>
            <a:prstDash val="solid"/>
          </a:ln>
        </p:spPr>
      </p:sp>
      <p:sp>
        <p:nvSpPr>
          <p:cNvPr id="22" name="Text 20"/>
          <p:cNvSpPr txBox="1"/>
          <p:nvPr/>
        </p:nvSpPr>
        <p:spPr>
          <a:xfrm>
            <a:off x="6382512" y="3236976"/>
            <a:ext cx="457200" cy="457200"/>
          </a:xfrm>
          <a:prstGeom prst="rect">
            <a:avLst/>
          </a:prstGeom>
          <a:noFill/>
          <a:ln/>
        </p:spPr>
        <p:txBody>
          <a:bodyPr wrap="square" lIns="0" tIns="0" rIns="0" bIns="0" rtlCol="0" anchor="ctr"/>
          <a:lstStyle/>
          <a:p>
            <a:pPr indent="0" marL="0">
              <a:buNone/>
            </a:pPr>
            <a:r>
              <a:rPr lang="en-US" sz="2000" b="1" dirty="0">
                <a:solidFill>
                  <a:srgbClr val="00AEEF"/>
                </a:solidFill>
                <a:latin typeface="Calibri" pitchFamily="34" charset="0"/>
                <a:ea typeface="Calibri" pitchFamily="34" charset="-122"/>
                <a:cs typeface="Calibri" pitchFamily="34" charset="-120"/>
              </a:rPr>
              <a:t>2</a:t>
            </a:r>
            <a:endParaRPr lang="en-US" sz="2000" dirty="0"/>
          </a:p>
        </p:txBody>
      </p:sp>
      <p:sp>
        <p:nvSpPr>
          <p:cNvPr id="23" name="Text 21"/>
          <p:cNvSpPr txBox="1"/>
          <p:nvPr/>
        </p:nvSpPr>
        <p:spPr>
          <a:xfrm>
            <a:off x="6858000" y="3236976"/>
            <a:ext cx="47091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Least Privilege at Every Layer</a:t>
            </a:r>
            <a:endParaRPr lang="en-US" sz="1300" dirty="0"/>
          </a:p>
        </p:txBody>
      </p:sp>
      <p:sp>
        <p:nvSpPr>
          <p:cNvPr id="24" name="Text 22"/>
          <p:cNvSpPr txBox="1"/>
          <p:nvPr/>
        </p:nvSpPr>
        <p:spPr>
          <a:xfrm>
            <a:off x="6858000" y="3584448"/>
            <a:ext cx="4709160" cy="822960"/>
          </a:xfrm>
          <a:prstGeom prst="rect">
            <a:avLst/>
          </a:prstGeom>
          <a:noFill/>
          <a:ln/>
        </p:spPr>
        <p:txBody>
          <a:bodyPr wrap="square" lIns="0" tIns="0" rIns="0" bIns="0" rtlCol="0" anchor="t"/>
          <a:lstStyle/>
          <a:p>
            <a:pPr algn="l" indent="0" marL="0">
              <a:lnSpc>
                <a:spcPct val="115000"/>
              </a:lnSpc>
              <a:buNone/>
            </a:pPr>
            <a:r>
              <a:rPr lang="en-US" sz="1080" dirty="0">
                <a:solidFill>
                  <a:srgbClr val="8FA3B8"/>
                </a:solidFill>
                <a:latin typeface="Calibri" pitchFamily="34" charset="0"/>
                <a:ea typeface="Calibri" pitchFamily="34" charset="-122"/>
                <a:cs typeface="Calibri" pitchFamily="34" charset="-120"/>
              </a:rPr>
              <a:t>Service accounts, Identity and Access Management roles, BigQuery Row-Level Security, and Continuous Integration permissions are all scoped to the minimum required.</a:t>
            </a:r>
            <a:endParaRPr lang="en-US" sz="1080" dirty="0"/>
          </a:p>
        </p:txBody>
      </p:sp>
      <p:sp>
        <p:nvSpPr>
          <p:cNvPr id="25" name="Shape 23"/>
          <p:cNvSpPr/>
          <p:nvPr/>
        </p:nvSpPr>
        <p:spPr>
          <a:xfrm>
            <a:off x="6245352" y="4654296"/>
            <a:ext cx="5486400" cy="1371600"/>
          </a:xfrm>
          <a:prstGeom prst="roundRect">
            <a:avLst>
              <a:gd name="adj" fmla="val 5333"/>
            </a:avLst>
          </a:prstGeom>
          <a:solidFill>
            <a:srgbClr val="16283D"/>
          </a:solidFill>
          <a:ln w="9525">
            <a:solidFill>
              <a:srgbClr val="24405F"/>
            </a:solidFill>
            <a:prstDash val="solid"/>
          </a:ln>
        </p:spPr>
      </p:sp>
      <p:sp>
        <p:nvSpPr>
          <p:cNvPr id="26" name="Text 24"/>
          <p:cNvSpPr txBox="1"/>
          <p:nvPr/>
        </p:nvSpPr>
        <p:spPr>
          <a:xfrm>
            <a:off x="6382512" y="4764024"/>
            <a:ext cx="457200" cy="457200"/>
          </a:xfrm>
          <a:prstGeom prst="rect">
            <a:avLst/>
          </a:prstGeom>
          <a:noFill/>
          <a:ln/>
        </p:spPr>
        <p:txBody>
          <a:bodyPr wrap="square" lIns="0" tIns="0" rIns="0" bIns="0" rtlCol="0" anchor="ctr"/>
          <a:lstStyle/>
          <a:p>
            <a:pPr indent="0" marL="0">
              <a:buNone/>
            </a:pPr>
            <a:r>
              <a:rPr lang="en-US" sz="2000" b="1" dirty="0">
                <a:solidFill>
                  <a:srgbClr val="00AEEF"/>
                </a:solidFill>
                <a:latin typeface="Calibri" pitchFamily="34" charset="0"/>
                <a:ea typeface="Calibri" pitchFamily="34" charset="-122"/>
                <a:cs typeface="Calibri" pitchFamily="34" charset="-120"/>
              </a:rPr>
              <a:t>3</a:t>
            </a:r>
            <a:endParaRPr lang="en-US" sz="2000" dirty="0"/>
          </a:p>
        </p:txBody>
      </p:sp>
      <p:sp>
        <p:nvSpPr>
          <p:cNvPr id="27" name="Text 25"/>
          <p:cNvSpPr txBox="1"/>
          <p:nvPr/>
        </p:nvSpPr>
        <p:spPr>
          <a:xfrm>
            <a:off x="6858000" y="4764024"/>
            <a:ext cx="47091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Schema as a Contract</a:t>
            </a:r>
            <a:endParaRPr lang="en-US" sz="1300" dirty="0"/>
          </a:p>
        </p:txBody>
      </p:sp>
      <p:sp>
        <p:nvSpPr>
          <p:cNvPr id="28" name="Text 26"/>
          <p:cNvSpPr txBox="1"/>
          <p:nvPr/>
        </p:nvSpPr>
        <p:spPr>
          <a:xfrm>
            <a:off x="6858000" y="5111496"/>
            <a:ext cx="4709160" cy="822960"/>
          </a:xfrm>
          <a:prstGeom prst="rect">
            <a:avLst/>
          </a:prstGeom>
          <a:noFill/>
          <a:ln/>
        </p:spPr>
        <p:txBody>
          <a:bodyPr wrap="square" lIns="0" tIns="0" rIns="0" bIns="0" rtlCol="0" anchor="t"/>
          <a:lstStyle/>
          <a:p>
            <a:pPr algn="l" indent="0" marL="0">
              <a:lnSpc>
                <a:spcPct val="115000"/>
              </a:lnSpc>
              <a:buNone/>
            </a:pPr>
            <a:r>
              <a:rPr lang="en-US" sz="1080" dirty="0">
                <a:solidFill>
                  <a:srgbClr val="8FA3B8"/>
                </a:solidFill>
                <a:latin typeface="Calibri" pitchFamily="34" charset="0"/>
                <a:ea typeface="Calibri" pitchFamily="34" charset="-122"/>
                <a:cs typeface="Calibri" pitchFamily="34" charset="-120"/>
              </a:rPr>
              <a:t>The Pub/Sub AVRO schema, BigQuery table schema, and Django serializer form a single enforced contract preventing data loss at every boundary.</a:t>
            </a:r>
            <a:endParaRPr lang="en-US" sz="1080" dirty="0"/>
          </a:p>
        </p:txBody>
      </p:sp>
      <p:sp>
        <p:nvSpPr>
          <p:cNvPr id="29" name="Text 27"/>
          <p:cNvSpPr txBox="1"/>
          <p:nvPr/>
        </p:nvSpPr>
        <p:spPr>
          <a:xfrm>
            <a:off x="457200" y="6309360"/>
            <a:ext cx="11274552" cy="365760"/>
          </a:xfrm>
          <a:prstGeom prst="rect">
            <a:avLst/>
          </a:prstGeom>
          <a:noFill/>
          <a:ln/>
        </p:spPr>
        <p:txBody>
          <a:bodyPr wrap="square" lIns="0" tIns="0" rIns="0" bIns="0" rtlCol="0" anchor="ctr"/>
          <a:lstStyle/>
          <a:p>
            <a:pPr algn="ctr" indent="0" marL="0">
              <a:buNone/>
            </a:pPr>
            <a:r>
              <a:rPr lang="en-US" sz="1300" b="1" dirty="0">
                <a:solidFill>
                  <a:srgbClr val="00AEEF"/>
                </a:solidFill>
                <a:latin typeface="Calibri" pitchFamily="34" charset="0"/>
                <a:ea typeface="Calibri" pitchFamily="34" charset="-122"/>
                <a:cs typeface="Calibri" pitchFamily="34" charset="-120"/>
              </a:rPr>
              <a:t>Dipak Shimpi  |  shimpidipak81@gmail.com  |  github.com/dipakshimpi/habotconnect-devops-project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Habot Connect FZCO - Junior Cloud and DevOps Engineer Hiring Project</dc:title>
  <dc:subject>PptxGenJS Presentation</dc:subject>
  <dc:creator>Dipak Shimpi</dc:creator>
  <cp:lastModifiedBy>Dipak Shimpi</cp:lastModifiedBy>
  <cp:revision>1</cp:revision>
  <dcterms:created xsi:type="dcterms:W3CDTF">2026-09-12T17:58:50Z</dcterms:created>
  <dcterms:modified xsi:type="dcterms:W3CDTF">2026-09-12T17:58:51Z</dcterms:modified>
</cp:coreProperties>
</file>